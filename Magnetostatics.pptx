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9144000" cy="6858000" type="screen4x3"/>
  <p:notesSz cx="7102475"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82" d="100"/>
          <a:sy n="82" d="100"/>
        </p:scale>
        <p:origin x="-1530"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511731"/>
          </a:xfrm>
          <a:prstGeom prst="rect">
            <a:avLst/>
          </a:prstGeom>
        </p:spPr>
        <p:txBody>
          <a:bodyPr vert="horz" lIns="99066" tIns="49533" rIns="99066" bIns="49533" rtlCol="0"/>
          <a:lstStyle>
            <a:lvl1pPr algn="l">
              <a:defRPr sz="1300"/>
            </a:lvl1pPr>
          </a:lstStyle>
          <a:p>
            <a:endParaRPr lang="en-US"/>
          </a:p>
        </p:txBody>
      </p:sp>
      <p:sp>
        <p:nvSpPr>
          <p:cNvPr id="3" name="Date Placeholder 2"/>
          <p:cNvSpPr>
            <a:spLocks noGrp="1"/>
          </p:cNvSpPr>
          <p:nvPr>
            <p:ph type="dt" idx="1"/>
          </p:nvPr>
        </p:nvSpPr>
        <p:spPr>
          <a:xfrm>
            <a:off x="4023092" y="0"/>
            <a:ext cx="3077739" cy="511731"/>
          </a:xfrm>
          <a:prstGeom prst="rect">
            <a:avLst/>
          </a:prstGeom>
        </p:spPr>
        <p:txBody>
          <a:bodyPr vert="horz" lIns="99066" tIns="49533" rIns="99066" bIns="49533" rtlCol="0"/>
          <a:lstStyle>
            <a:lvl1pPr algn="r">
              <a:defRPr sz="1300"/>
            </a:lvl1pPr>
          </a:lstStyle>
          <a:p>
            <a:fld id="{575547B8-0232-4E0D-BCF3-56F996F8A6A6}" type="datetimeFigureOut">
              <a:rPr lang="en-US" smtClean="0"/>
              <a:pPr/>
              <a:t>9/1/2014</a:t>
            </a:fld>
            <a:endParaRPr lang="en-US"/>
          </a:p>
        </p:txBody>
      </p:sp>
      <p:sp>
        <p:nvSpPr>
          <p:cNvPr id="4" name="Slide Image Placeholder 3"/>
          <p:cNvSpPr>
            <a:spLocks noGrp="1" noRot="1" noChangeAspect="1"/>
          </p:cNvSpPr>
          <p:nvPr>
            <p:ph type="sldImg" idx="2"/>
          </p:nvPr>
        </p:nvSpPr>
        <p:spPr>
          <a:xfrm>
            <a:off x="993775" y="768350"/>
            <a:ext cx="5114925" cy="3836988"/>
          </a:xfrm>
          <a:prstGeom prst="rect">
            <a:avLst/>
          </a:prstGeom>
          <a:noFill/>
          <a:ln w="12700">
            <a:solidFill>
              <a:prstClr val="black"/>
            </a:solidFill>
          </a:ln>
        </p:spPr>
        <p:txBody>
          <a:bodyPr vert="horz" lIns="99066" tIns="49533" rIns="99066" bIns="49533" rtlCol="0" anchor="ctr"/>
          <a:lstStyle/>
          <a:p>
            <a:endParaRPr lang="en-US"/>
          </a:p>
        </p:txBody>
      </p:sp>
      <p:sp>
        <p:nvSpPr>
          <p:cNvPr id="5" name="Notes Placeholder 4"/>
          <p:cNvSpPr>
            <a:spLocks noGrp="1"/>
          </p:cNvSpPr>
          <p:nvPr>
            <p:ph type="body" sz="quarter" idx="3"/>
          </p:nvPr>
        </p:nvSpPr>
        <p:spPr>
          <a:xfrm>
            <a:off x="710248" y="4861441"/>
            <a:ext cx="5681980" cy="4605576"/>
          </a:xfrm>
          <a:prstGeom prst="rect">
            <a:avLst/>
          </a:prstGeom>
        </p:spPr>
        <p:txBody>
          <a:bodyPr vert="horz" lIns="99066" tIns="49533" rIns="99066" bIns="49533"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9721106"/>
            <a:ext cx="3077739" cy="511731"/>
          </a:xfrm>
          <a:prstGeom prst="rect">
            <a:avLst/>
          </a:prstGeom>
        </p:spPr>
        <p:txBody>
          <a:bodyPr vert="horz" lIns="99066" tIns="49533" rIns="99066" bIns="49533" rtlCol="0" anchor="b"/>
          <a:lstStyle>
            <a:lvl1pPr algn="l">
              <a:defRPr sz="1300"/>
            </a:lvl1pPr>
          </a:lstStyle>
          <a:p>
            <a:endParaRPr lang="en-US"/>
          </a:p>
        </p:txBody>
      </p:sp>
      <p:sp>
        <p:nvSpPr>
          <p:cNvPr id="7" name="Slide Number Placeholder 6"/>
          <p:cNvSpPr>
            <a:spLocks noGrp="1"/>
          </p:cNvSpPr>
          <p:nvPr>
            <p:ph type="sldNum" sz="quarter" idx="5"/>
          </p:nvPr>
        </p:nvSpPr>
        <p:spPr>
          <a:xfrm>
            <a:off x="4023092" y="9721106"/>
            <a:ext cx="3077739" cy="511731"/>
          </a:xfrm>
          <a:prstGeom prst="rect">
            <a:avLst/>
          </a:prstGeom>
        </p:spPr>
        <p:txBody>
          <a:bodyPr vert="horz" lIns="99066" tIns="49533" rIns="99066" bIns="49533" rtlCol="0" anchor="b"/>
          <a:lstStyle>
            <a:lvl1pPr algn="r">
              <a:defRPr sz="1300"/>
            </a:lvl1pPr>
          </a:lstStyle>
          <a:p>
            <a:fld id="{1C7B9F01-758F-4685-BC7A-27B99C73D6E0}"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C7B9F01-758F-4685-BC7A-27B99C73D6E0}" type="slidenum">
              <a:rPr lang="en-US" smtClean="0"/>
              <a:pPr/>
              <a:t>14</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C7B9F01-758F-4685-BC7A-27B99C73D6E0}" type="slidenum">
              <a:rPr lang="en-US" smtClean="0"/>
              <a:pPr/>
              <a:t>24</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C7B9F01-758F-4685-BC7A-27B99C73D6E0}" type="slidenum">
              <a:rPr lang="en-US" smtClean="0"/>
              <a:pPr/>
              <a:t>29</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9/1/2014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9/1/2014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9/1/2014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9/1/2014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9/1/2014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9/1/2014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9/1/2014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9/1/2014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9/1/2014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9/1/2014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9/1/2014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slideLayout" Target="../slideLayouts/slideLayout7.xml"/><Relationship Id="rId4" Type="http://schemas.openxmlformats.org/officeDocument/2006/relationships/image" Target="../media/image8.emf"/></Relationships>
</file>

<file path=ppt/slides/_rels/slide5.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emf"/><Relationship Id="rId1" Type="http://schemas.openxmlformats.org/officeDocument/2006/relationships/slideLayout" Target="../slideLayouts/slideLayout7.xml"/><Relationship Id="rId4" Type="http://schemas.openxmlformats.org/officeDocument/2006/relationships/image" Target="../media/image11.emf"/></Relationships>
</file>

<file path=ppt/slides/_rels/slide6.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emf"/><Relationship Id="rId1" Type="http://schemas.openxmlformats.org/officeDocument/2006/relationships/slideLayout" Target="../slideLayouts/slideLayout7.xml"/><Relationship Id="rId5" Type="http://schemas.openxmlformats.org/officeDocument/2006/relationships/image" Target="../media/image15.emf"/><Relationship Id="rId4" Type="http://schemas.openxmlformats.org/officeDocument/2006/relationships/image" Target="../media/image14.emf"/></Relationships>
</file>

<file path=ppt/slides/_rels/slide7.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emf"/><Relationship Id="rId1" Type="http://schemas.openxmlformats.org/officeDocument/2006/relationships/slideLayout" Target="../slideLayouts/slideLayout7.xml"/><Relationship Id="rId4" Type="http://schemas.openxmlformats.org/officeDocument/2006/relationships/image" Target="../media/image18.emf"/></Relationships>
</file>

<file path=ppt/slides/_rels/slide8.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19.emf"/><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21.emf"/><Relationship Id="rId1" Type="http://schemas.openxmlformats.org/officeDocument/2006/relationships/slideLayout" Target="../slideLayouts/slideLayout7.xml"/><Relationship Id="rId5" Type="http://schemas.openxmlformats.org/officeDocument/2006/relationships/image" Target="../media/image24.emf"/><Relationship Id="rId4" Type="http://schemas.openxmlformats.org/officeDocument/2006/relationships/image" Target="../media/image23.emf"/></Relationships>
</file>

<file path=ppt/slides/_rels/slide10.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image" Target="../media/image25.emf"/><Relationship Id="rId1" Type="http://schemas.openxmlformats.org/officeDocument/2006/relationships/slideLayout" Target="../slideLayouts/slideLayout7.xml"/><Relationship Id="rId4" Type="http://schemas.openxmlformats.org/officeDocument/2006/relationships/image" Target="../media/image27.emf"/></Relationships>
</file>

<file path=ppt/slides/_rels/slide11.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image" Target="../media/image28.emf"/><Relationship Id="rId1" Type="http://schemas.openxmlformats.org/officeDocument/2006/relationships/slideLayout" Target="../slideLayouts/slideLayout7.xml"/><Relationship Id="rId5" Type="http://schemas.openxmlformats.org/officeDocument/2006/relationships/image" Target="../media/image31.emf"/><Relationship Id="rId4" Type="http://schemas.openxmlformats.org/officeDocument/2006/relationships/image" Target="../media/image30.emf"/></Relationships>
</file>

<file path=ppt/slides/_rels/slide12.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image" Target="../media/image32.emf"/><Relationship Id="rId1" Type="http://schemas.openxmlformats.org/officeDocument/2006/relationships/slideLayout" Target="../slideLayouts/slideLayout7.xml"/><Relationship Id="rId4" Type="http://schemas.openxmlformats.org/officeDocument/2006/relationships/image" Target="../media/image34.emf"/></Relationships>
</file>

<file path=ppt/slides/_rels/slide13.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image" Target="../media/image35.emf"/><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7.emf"/><Relationship Id="rId7" Type="http://schemas.openxmlformats.org/officeDocument/2006/relationships/image" Target="../media/image41.emf"/><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0.emf"/><Relationship Id="rId5" Type="http://schemas.openxmlformats.org/officeDocument/2006/relationships/image" Target="../media/image39.emf"/><Relationship Id="rId4" Type="http://schemas.openxmlformats.org/officeDocument/2006/relationships/image" Target="../media/image38.emf"/></Relationships>
</file>

<file path=ppt/slides/_rels/slide15.xml.rels><?xml version="1.0" encoding="UTF-8" standalone="yes"?>
<Relationships xmlns="http://schemas.openxmlformats.org/package/2006/relationships"><Relationship Id="rId3" Type="http://schemas.openxmlformats.org/officeDocument/2006/relationships/image" Target="../media/image43.emf"/><Relationship Id="rId2" Type="http://schemas.openxmlformats.org/officeDocument/2006/relationships/image" Target="../media/image42.emf"/><Relationship Id="rId1" Type="http://schemas.openxmlformats.org/officeDocument/2006/relationships/slideLayout" Target="../slideLayouts/slideLayout7.xml"/><Relationship Id="rId4" Type="http://schemas.openxmlformats.org/officeDocument/2006/relationships/image" Target="../media/image44.emf"/></Relationships>
</file>

<file path=ppt/slides/_rels/slide16.xml.rels><?xml version="1.0" encoding="UTF-8" standalone="yes"?>
<Relationships xmlns="http://schemas.openxmlformats.org/package/2006/relationships"><Relationship Id="rId3" Type="http://schemas.openxmlformats.org/officeDocument/2006/relationships/image" Target="../media/image46.emf"/><Relationship Id="rId2" Type="http://schemas.openxmlformats.org/officeDocument/2006/relationships/image" Target="../media/image45.emf"/><Relationship Id="rId1" Type="http://schemas.openxmlformats.org/officeDocument/2006/relationships/slideLayout" Target="../slideLayouts/slideLayout7.xml"/><Relationship Id="rId5" Type="http://schemas.openxmlformats.org/officeDocument/2006/relationships/image" Target="../media/image48.emf"/><Relationship Id="rId4" Type="http://schemas.openxmlformats.org/officeDocument/2006/relationships/image" Target="../media/image47.emf"/></Relationships>
</file>

<file path=ppt/slides/_rels/slide17.xml.rels><?xml version="1.0" encoding="UTF-8" standalone="yes"?>
<Relationships xmlns="http://schemas.openxmlformats.org/package/2006/relationships"><Relationship Id="rId8" Type="http://schemas.openxmlformats.org/officeDocument/2006/relationships/image" Target="../media/image55.emf"/><Relationship Id="rId3" Type="http://schemas.openxmlformats.org/officeDocument/2006/relationships/image" Target="../media/image50.emf"/><Relationship Id="rId7" Type="http://schemas.openxmlformats.org/officeDocument/2006/relationships/image" Target="../media/image54.emf"/><Relationship Id="rId2" Type="http://schemas.openxmlformats.org/officeDocument/2006/relationships/image" Target="../media/image49.emf"/><Relationship Id="rId1" Type="http://schemas.openxmlformats.org/officeDocument/2006/relationships/slideLayout" Target="../slideLayouts/slideLayout7.xml"/><Relationship Id="rId6" Type="http://schemas.openxmlformats.org/officeDocument/2006/relationships/image" Target="../media/image53.emf"/><Relationship Id="rId5" Type="http://schemas.openxmlformats.org/officeDocument/2006/relationships/image" Target="../media/image52.emf"/><Relationship Id="rId4" Type="http://schemas.openxmlformats.org/officeDocument/2006/relationships/image" Target="../media/image51.emf"/></Relationships>
</file>

<file path=ppt/slides/_rels/slide18.xml.rels><?xml version="1.0" encoding="UTF-8" standalone="yes"?>
<Relationships xmlns="http://schemas.openxmlformats.org/package/2006/relationships"><Relationship Id="rId3" Type="http://schemas.openxmlformats.org/officeDocument/2006/relationships/image" Target="../media/image57.emf"/><Relationship Id="rId2" Type="http://schemas.openxmlformats.org/officeDocument/2006/relationships/image" Target="../media/image56.emf"/><Relationship Id="rId1" Type="http://schemas.openxmlformats.org/officeDocument/2006/relationships/slideLayout" Target="../slideLayouts/slideLayout7.xml"/><Relationship Id="rId5" Type="http://schemas.openxmlformats.org/officeDocument/2006/relationships/image" Target="../media/image59.emf"/><Relationship Id="rId4" Type="http://schemas.openxmlformats.org/officeDocument/2006/relationships/image" Target="../media/image58.emf"/></Relationships>
</file>

<file path=ppt/slides/_rels/slide19.xml.rels><?xml version="1.0" encoding="UTF-8" standalone="yes"?>
<Relationships xmlns="http://schemas.openxmlformats.org/package/2006/relationships"><Relationship Id="rId8" Type="http://schemas.openxmlformats.org/officeDocument/2006/relationships/image" Target="../media/image66.emf"/><Relationship Id="rId3" Type="http://schemas.openxmlformats.org/officeDocument/2006/relationships/image" Target="../media/image61.emf"/><Relationship Id="rId7" Type="http://schemas.openxmlformats.org/officeDocument/2006/relationships/image" Target="../media/image65.emf"/><Relationship Id="rId2" Type="http://schemas.openxmlformats.org/officeDocument/2006/relationships/image" Target="../media/image60.emf"/><Relationship Id="rId1" Type="http://schemas.openxmlformats.org/officeDocument/2006/relationships/slideLayout" Target="../slideLayouts/slideLayout7.xml"/><Relationship Id="rId6" Type="http://schemas.openxmlformats.org/officeDocument/2006/relationships/image" Target="../media/image64.emf"/><Relationship Id="rId5" Type="http://schemas.openxmlformats.org/officeDocument/2006/relationships/image" Target="../media/image63.emf"/><Relationship Id="rId4" Type="http://schemas.openxmlformats.org/officeDocument/2006/relationships/image" Target="../media/image62.emf"/></Relationships>
</file>

<file path=ppt/slides/_rels/slide20.xml.rels><?xml version="1.0" encoding="UTF-8" standalone="yes"?>
<Relationships xmlns="http://schemas.openxmlformats.org/package/2006/relationships"><Relationship Id="rId2" Type="http://schemas.openxmlformats.org/officeDocument/2006/relationships/image" Target="../media/image67.emf"/><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69.emf"/><Relationship Id="rId2" Type="http://schemas.openxmlformats.org/officeDocument/2006/relationships/image" Target="../media/image68.emf"/><Relationship Id="rId1" Type="http://schemas.openxmlformats.org/officeDocument/2006/relationships/slideLayout" Target="../slideLayouts/slideLayout7.xml"/><Relationship Id="rId5" Type="http://schemas.openxmlformats.org/officeDocument/2006/relationships/image" Target="../media/image71.emf"/><Relationship Id="rId4" Type="http://schemas.openxmlformats.org/officeDocument/2006/relationships/image" Target="../media/image70.emf"/></Relationships>
</file>

<file path=ppt/slides/_rels/slide22.xml.rels><?xml version="1.0" encoding="UTF-8" standalone="yes"?>
<Relationships xmlns="http://schemas.openxmlformats.org/package/2006/relationships"><Relationship Id="rId3" Type="http://schemas.openxmlformats.org/officeDocument/2006/relationships/image" Target="../media/image73.emf"/><Relationship Id="rId2" Type="http://schemas.openxmlformats.org/officeDocument/2006/relationships/image" Target="../media/image72.emf"/><Relationship Id="rId1" Type="http://schemas.openxmlformats.org/officeDocument/2006/relationships/slideLayout" Target="../slideLayouts/slideLayout7.xml"/><Relationship Id="rId4" Type="http://schemas.openxmlformats.org/officeDocument/2006/relationships/image" Target="../media/image74.emf"/></Relationships>
</file>

<file path=ppt/slides/_rels/slide23.xml.rels><?xml version="1.0" encoding="UTF-8" standalone="yes"?>
<Relationships xmlns="http://schemas.openxmlformats.org/package/2006/relationships"><Relationship Id="rId3" Type="http://schemas.openxmlformats.org/officeDocument/2006/relationships/image" Target="../media/image76.emf"/><Relationship Id="rId2" Type="http://schemas.openxmlformats.org/officeDocument/2006/relationships/image" Target="../media/image75.emf"/><Relationship Id="rId1" Type="http://schemas.openxmlformats.org/officeDocument/2006/relationships/slideLayout" Target="../slideLayouts/slideLayout7.xml"/><Relationship Id="rId5" Type="http://schemas.openxmlformats.org/officeDocument/2006/relationships/image" Target="../media/image78.emf"/><Relationship Id="rId4" Type="http://schemas.openxmlformats.org/officeDocument/2006/relationships/image" Target="../media/image77.emf"/></Relationships>
</file>

<file path=ppt/slides/_rels/slide24.xml.rels><?xml version="1.0" encoding="UTF-8" standalone="yes"?>
<Relationships xmlns="http://schemas.openxmlformats.org/package/2006/relationships"><Relationship Id="rId3" Type="http://schemas.openxmlformats.org/officeDocument/2006/relationships/image" Target="../media/image79.emf"/><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81.emf"/><Relationship Id="rId4" Type="http://schemas.openxmlformats.org/officeDocument/2006/relationships/image" Target="../media/image80.emf"/></Relationships>
</file>

<file path=ppt/slides/_rels/slide25.xml.rels><?xml version="1.0" encoding="UTF-8" standalone="yes"?>
<Relationships xmlns="http://schemas.openxmlformats.org/package/2006/relationships"><Relationship Id="rId3" Type="http://schemas.openxmlformats.org/officeDocument/2006/relationships/image" Target="../media/image83.emf"/><Relationship Id="rId2" Type="http://schemas.openxmlformats.org/officeDocument/2006/relationships/image" Target="../media/image82.emf"/><Relationship Id="rId1" Type="http://schemas.openxmlformats.org/officeDocument/2006/relationships/slideLayout" Target="../slideLayouts/slideLayout7.xml"/><Relationship Id="rId5" Type="http://schemas.openxmlformats.org/officeDocument/2006/relationships/image" Target="../media/image85.emf"/><Relationship Id="rId4" Type="http://schemas.openxmlformats.org/officeDocument/2006/relationships/image" Target="../media/image84.emf"/></Relationships>
</file>

<file path=ppt/slides/_rels/slide26.xml.rels><?xml version="1.0" encoding="UTF-8" standalone="yes"?>
<Relationships xmlns="http://schemas.openxmlformats.org/package/2006/relationships"><Relationship Id="rId3" Type="http://schemas.openxmlformats.org/officeDocument/2006/relationships/image" Target="../media/image87.emf"/><Relationship Id="rId2" Type="http://schemas.openxmlformats.org/officeDocument/2006/relationships/image" Target="../media/image86.emf"/><Relationship Id="rId1" Type="http://schemas.openxmlformats.org/officeDocument/2006/relationships/slideLayout" Target="../slideLayouts/slideLayout7.xml"/><Relationship Id="rId4" Type="http://schemas.openxmlformats.org/officeDocument/2006/relationships/image" Target="../media/image88.emf"/></Relationships>
</file>

<file path=ppt/slides/_rels/slide27.xml.rels><?xml version="1.0" encoding="UTF-8" standalone="yes"?>
<Relationships xmlns="http://schemas.openxmlformats.org/package/2006/relationships"><Relationship Id="rId3" Type="http://schemas.openxmlformats.org/officeDocument/2006/relationships/image" Target="../media/image90.emf"/><Relationship Id="rId2" Type="http://schemas.openxmlformats.org/officeDocument/2006/relationships/image" Target="../media/image89.emf"/><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92.emf"/><Relationship Id="rId2" Type="http://schemas.openxmlformats.org/officeDocument/2006/relationships/image" Target="../media/image91.emf"/><Relationship Id="rId1" Type="http://schemas.openxmlformats.org/officeDocument/2006/relationships/slideLayout" Target="../slideLayouts/slideLayout7.xml"/><Relationship Id="rId6" Type="http://schemas.openxmlformats.org/officeDocument/2006/relationships/image" Target="../media/image95.emf"/><Relationship Id="rId5" Type="http://schemas.openxmlformats.org/officeDocument/2006/relationships/image" Target="../media/image94.emf"/><Relationship Id="rId4" Type="http://schemas.openxmlformats.org/officeDocument/2006/relationships/image" Target="../media/image93.emf"/></Relationships>
</file>

<file path=ppt/slides/_rels/slide29.xml.rels><?xml version="1.0" encoding="UTF-8" standalone="yes"?>
<Relationships xmlns="http://schemas.openxmlformats.org/package/2006/relationships"><Relationship Id="rId3" Type="http://schemas.openxmlformats.org/officeDocument/2006/relationships/image" Target="../media/image96.emf"/><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99.emf"/><Relationship Id="rId5" Type="http://schemas.openxmlformats.org/officeDocument/2006/relationships/image" Target="../media/image98.emf"/><Relationship Id="rId4" Type="http://schemas.openxmlformats.org/officeDocument/2006/relationships/image" Target="../media/image97.emf"/></Relationships>
</file>

<file path=ppt/slides/_rels/slide30.xml.rels><?xml version="1.0" encoding="UTF-8" standalone="yes"?>
<Relationships xmlns="http://schemas.openxmlformats.org/package/2006/relationships"><Relationship Id="rId2" Type="http://schemas.openxmlformats.org/officeDocument/2006/relationships/image" Target="../media/image100.emf"/><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447800" y="695450"/>
            <a:ext cx="6096000" cy="646331"/>
          </a:xfrm>
          <a:prstGeom prst="rect">
            <a:avLst/>
          </a:prstGeom>
          <a:noFill/>
        </p:spPr>
        <p:txBody>
          <a:bodyPr wrap="square" rtlCol="0">
            <a:spAutoFit/>
          </a:bodyPr>
          <a:lstStyle/>
          <a:p>
            <a:pPr algn="ctr"/>
            <a:r>
              <a:rPr lang="en-US" sz="3600" b="1" dirty="0" smtClean="0"/>
              <a:t>Magneto statics</a:t>
            </a:r>
            <a:endParaRPr lang="en-US" sz="3600" b="1" dirty="0"/>
          </a:p>
        </p:txBody>
      </p:sp>
      <p:sp>
        <p:nvSpPr>
          <p:cNvPr id="1025" name="Rectangle 1"/>
          <p:cNvSpPr>
            <a:spLocks noChangeArrowheads="1"/>
          </p:cNvSpPr>
          <p:nvPr/>
        </p:nvSpPr>
        <p:spPr bwMode="auto">
          <a:xfrm>
            <a:off x="609600" y="1295400"/>
            <a:ext cx="8153400" cy="138499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A stationary charges produces only an electric field E in the space around it, a moving charge generates, in addition a magnetic field </a:t>
            </a:r>
            <a:r>
              <a:rPr kumimoji="0" lang="en-US" sz="2800"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B</a:t>
            </a:r>
            <a:r>
              <a:rPr kumimoji="0" lang="en-US" sz="28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a:t>
            </a:r>
            <a:endParaRPr kumimoji="0" lang="en-US" sz="2800" b="0" i="0" u="none" strike="noStrike" cap="none" normalizeH="0" baseline="0" dirty="0" smtClean="0">
              <a:ln>
                <a:noFill/>
              </a:ln>
              <a:solidFill>
                <a:schemeClr val="tx1"/>
              </a:solidFill>
              <a:effectLst/>
              <a:latin typeface="Arial" pitchFamily="34" charset="0"/>
              <a:cs typeface="Arial" pitchFamily="34" charset="0"/>
            </a:endParaRPr>
          </a:p>
        </p:txBody>
      </p:sp>
      <p:pic>
        <p:nvPicPr>
          <p:cNvPr id="4" name="Picture 3"/>
          <p:cNvPicPr/>
          <p:nvPr/>
        </p:nvPicPr>
        <p:blipFill>
          <a:blip r:embed="rId2"/>
          <a:srcRect/>
          <a:stretch>
            <a:fillRect/>
          </a:stretch>
        </p:blipFill>
        <p:spPr bwMode="auto">
          <a:xfrm>
            <a:off x="2209800" y="2752850"/>
            <a:ext cx="5791200" cy="3903517"/>
          </a:xfrm>
          <a:prstGeom prst="rect">
            <a:avLst/>
          </a:prstGeom>
          <a:noFill/>
          <a:ln w="9525">
            <a:noFill/>
            <a:miter lim="800000"/>
            <a:headEnd/>
            <a:tailEnd/>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1"/>
          <p:cNvSpPr>
            <a:spLocks noChangeArrowheads="1"/>
          </p:cNvSpPr>
          <p:nvPr/>
        </p:nvSpPr>
        <p:spPr bwMode="auto">
          <a:xfrm>
            <a:off x="762000" y="685800"/>
            <a:ext cx="7924800" cy="95410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The magnetic force in a charge Q, moving with velocity </a:t>
            </a:r>
            <a:r>
              <a:rPr kumimoji="0" lang="en-US" sz="2800"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v</a:t>
            </a:r>
            <a:r>
              <a:rPr kumimoji="0" lang="en-US" sz="28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 in a magnetic field </a:t>
            </a:r>
            <a:r>
              <a:rPr kumimoji="0" lang="en-US" sz="2800"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B</a:t>
            </a:r>
            <a:r>
              <a:rPr kumimoji="0" lang="en-US" sz="28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 is </a:t>
            </a:r>
            <a:endParaRPr kumimoji="0" lang="en-US" sz="2800" b="0" i="0" u="none" strike="noStrike" cap="none" normalizeH="0" baseline="0" dirty="0" smtClean="0">
              <a:ln>
                <a:noFill/>
              </a:ln>
              <a:solidFill>
                <a:schemeClr val="tx1"/>
              </a:solidFill>
              <a:effectLst/>
              <a:latin typeface="Arial" pitchFamily="34" charset="0"/>
              <a:cs typeface="Arial" pitchFamily="34" charset="0"/>
            </a:endParaRPr>
          </a:p>
        </p:txBody>
      </p:sp>
      <p:pic>
        <p:nvPicPr>
          <p:cNvPr id="3" name="Picture 2"/>
          <p:cNvPicPr/>
          <p:nvPr/>
        </p:nvPicPr>
        <p:blipFill>
          <a:blip r:embed="rId2"/>
          <a:srcRect/>
          <a:stretch>
            <a:fillRect/>
          </a:stretch>
        </p:blipFill>
        <p:spPr bwMode="auto">
          <a:xfrm>
            <a:off x="2590800" y="1905000"/>
            <a:ext cx="3112698" cy="1022591"/>
          </a:xfrm>
          <a:prstGeom prst="rect">
            <a:avLst/>
          </a:prstGeom>
          <a:noFill/>
          <a:ln w="9525">
            <a:noFill/>
            <a:miter lim="800000"/>
            <a:headEnd/>
            <a:tailEnd/>
          </a:ln>
        </p:spPr>
      </p:pic>
      <p:sp>
        <p:nvSpPr>
          <p:cNvPr id="14338" name="Rectangle 2"/>
          <p:cNvSpPr>
            <a:spLocks noChangeArrowheads="1"/>
          </p:cNvSpPr>
          <p:nvPr/>
        </p:nvSpPr>
        <p:spPr bwMode="auto">
          <a:xfrm>
            <a:off x="762000" y="3048000"/>
            <a:ext cx="7772400" cy="138499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This is known as the </a:t>
            </a:r>
            <a:r>
              <a:rPr kumimoji="0" lang="en-US" sz="2800"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Lorentz force Law</a:t>
            </a:r>
            <a:r>
              <a:rPr kumimoji="0" lang="en-US" sz="28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 In the presence of both electric and magnetic fields, the net force on Q would be </a:t>
            </a:r>
            <a:endParaRPr kumimoji="0" lang="en-US" sz="2800" b="0" i="0" u="none" strike="noStrike" cap="none" normalizeH="0" baseline="0" dirty="0" smtClean="0">
              <a:ln>
                <a:noFill/>
              </a:ln>
              <a:solidFill>
                <a:schemeClr val="tx1"/>
              </a:solidFill>
              <a:effectLst/>
              <a:latin typeface="Arial" pitchFamily="34" charset="0"/>
              <a:cs typeface="Arial" pitchFamily="34" charset="0"/>
            </a:endParaRPr>
          </a:p>
        </p:txBody>
      </p:sp>
      <p:pic>
        <p:nvPicPr>
          <p:cNvPr id="5" name="Picture 4"/>
          <p:cNvPicPr/>
          <p:nvPr/>
        </p:nvPicPr>
        <p:blipFill>
          <a:blip r:embed="rId3"/>
          <a:srcRect/>
          <a:stretch>
            <a:fillRect/>
          </a:stretch>
        </p:blipFill>
        <p:spPr bwMode="auto">
          <a:xfrm>
            <a:off x="2438400" y="4648200"/>
            <a:ext cx="3810000" cy="762000"/>
          </a:xfrm>
          <a:prstGeom prst="rect">
            <a:avLst/>
          </a:prstGeom>
          <a:noFill/>
          <a:ln w="9525">
            <a:noFill/>
            <a:miter lim="800000"/>
            <a:headEnd/>
            <a:tailEnd/>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1"/>
          <p:cNvSpPr>
            <a:spLocks noChangeArrowheads="1"/>
          </p:cNvSpPr>
          <p:nvPr/>
        </p:nvSpPr>
        <p:spPr bwMode="auto">
          <a:xfrm>
            <a:off x="609600" y="533400"/>
            <a:ext cx="8001000" cy="181588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The current I is defined as charge per unit time passing a given point. </a:t>
            </a:r>
            <a:endParaRPr kumimoji="0" lang="en-US" sz="28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A line charge λ traveling down a wire at speed v constitutes a current </a:t>
            </a:r>
            <a:endParaRPr kumimoji="0" lang="en-US" sz="2800" b="0" i="0" u="none" strike="noStrike" cap="none" normalizeH="0" baseline="0" dirty="0" smtClean="0">
              <a:ln>
                <a:noFill/>
              </a:ln>
              <a:solidFill>
                <a:schemeClr val="tx1"/>
              </a:solidFill>
              <a:effectLst/>
              <a:latin typeface="Arial" pitchFamily="34" charset="0"/>
              <a:cs typeface="Arial" pitchFamily="34" charset="0"/>
            </a:endParaRPr>
          </a:p>
        </p:txBody>
      </p:sp>
      <p:pic>
        <p:nvPicPr>
          <p:cNvPr id="3" name="Picture 2"/>
          <p:cNvPicPr/>
          <p:nvPr/>
        </p:nvPicPr>
        <p:blipFill>
          <a:blip r:embed="rId2"/>
          <a:srcRect/>
          <a:stretch>
            <a:fillRect/>
          </a:stretch>
        </p:blipFill>
        <p:spPr bwMode="auto">
          <a:xfrm>
            <a:off x="3276600" y="2438400"/>
            <a:ext cx="1600200" cy="561975"/>
          </a:xfrm>
          <a:prstGeom prst="rect">
            <a:avLst/>
          </a:prstGeom>
          <a:noFill/>
          <a:ln w="9525">
            <a:noFill/>
            <a:miter lim="800000"/>
            <a:headEnd/>
            <a:tailEnd/>
          </a:ln>
        </p:spPr>
      </p:pic>
      <p:sp>
        <p:nvSpPr>
          <p:cNvPr id="4" name="Rectangle 3"/>
          <p:cNvSpPr/>
          <p:nvPr/>
        </p:nvSpPr>
        <p:spPr>
          <a:xfrm>
            <a:off x="685800" y="3105835"/>
            <a:ext cx="7924800" cy="954107"/>
          </a:xfrm>
          <a:prstGeom prst="rect">
            <a:avLst/>
          </a:prstGeom>
        </p:spPr>
        <p:txBody>
          <a:bodyPr wrap="square">
            <a:spAutoFit/>
          </a:bodyPr>
          <a:lstStyle/>
          <a:p>
            <a:r>
              <a:rPr lang="en-US" sz="2800" dirty="0" smtClean="0">
                <a:latin typeface="Times New Roman" pitchFamily="18" charset="0"/>
                <a:cs typeface="Times New Roman" pitchFamily="18" charset="0"/>
              </a:rPr>
              <a:t>The magnetic force on a segment of current- carrying wire is evidently</a:t>
            </a:r>
            <a:endParaRPr lang="en-US" sz="2800" dirty="0">
              <a:latin typeface="Times New Roman" pitchFamily="18" charset="0"/>
              <a:cs typeface="Times New Roman" pitchFamily="18" charset="0"/>
            </a:endParaRPr>
          </a:p>
        </p:txBody>
      </p:sp>
      <p:pic>
        <p:nvPicPr>
          <p:cNvPr id="5" name="Picture 4"/>
          <p:cNvPicPr/>
          <p:nvPr/>
        </p:nvPicPr>
        <p:blipFill>
          <a:blip r:embed="rId3"/>
          <a:srcRect/>
          <a:stretch>
            <a:fillRect/>
          </a:stretch>
        </p:blipFill>
        <p:spPr bwMode="auto">
          <a:xfrm>
            <a:off x="1828800" y="4114800"/>
            <a:ext cx="5181600" cy="1536741"/>
          </a:xfrm>
          <a:prstGeom prst="rect">
            <a:avLst/>
          </a:prstGeom>
          <a:noFill/>
          <a:ln w="9525">
            <a:noFill/>
            <a:miter lim="800000"/>
            <a:headEnd/>
            <a:tailEnd/>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a:srcRect/>
          <a:stretch>
            <a:fillRect/>
          </a:stretch>
        </p:blipFill>
        <p:spPr bwMode="auto">
          <a:xfrm>
            <a:off x="1219200" y="381000"/>
            <a:ext cx="6934200" cy="1066800"/>
          </a:xfrm>
          <a:prstGeom prst="rect">
            <a:avLst/>
          </a:prstGeom>
          <a:noFill/>
          <a:ln w="9525">
            <a:noFill/>
            <a:miter lim="800000"/>
            <a:headEnd/>
            <a:tailEnd/>
          </a:ln>
        </p:spPr>
      </p:pic>
      <p:sp>
        <p:nvSpPr>
          <p:cNvPr id="16385" name="Rectangle 1"/>
          <p:cNvSpPr>
            <a:spLocks noChangeArrowheads="1"/>
          </p:cNvSpPr>
          <p:nvPr/>
        </p:nvSpPr>
        <p:spPr bwMode="auto">
          <a:xfrm>
            <a:off x="685800" y="1600200"/>
            <a:ext cx="8001000" cy="95410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as I and dl both point in the same direction, so, it can be written as </a:t>
            </a:r>
            <a:endParaRPr kumimoji="0" lang="en-US" sz="2800" b="0" i="0" u="none" strike="noStrike" cap="none" normalizeH="0" baseline="0" dirty="0" smtClean="0">
              <a:ln>
                <a:noFill/>
              </a:ln>
              <a:solidFill>
                <a:schemeClr val="tx1"/>
              </a:solidFill>
              <a:effectLst/>
              <a:latin typeface="Arial" pitchFamily="34" charset="0"/>
              <a:cs typeface="Arial" pitchFamily="34" charset="0"/>
            </a:endParaRPr>
          </a:p>
        </p:txBody>
      </p:sp>
      <p:pic>
        <p:nvPicPr>
          <p:cNvPr id="4" name="Picture 3"/>
          <p:cNvPicPr/>
          <p:nvPr/>
        </p:nvPicPr>
        <p:blipFill>
          <a:blip r:embed="rId3"/>
          <a:srcRect/>
          <a:stretch>
            <a:fillRect/>
          </a:stretch>
        </p:blipFill>
        <p:spPr bwMode="auto">
          <a:xfrm>
            <a:off x="2590800" y="2514600"/>
            <a:ext cx="3595053" cy="1098550"/>
          </a:xfrm>
          <a:prstGeom prst="rect">
            <a:avLst/>
          </a:prstGeom>
          <a:noFill/>
          <a:ln w="9525">
            <a:noFill/>
            <a:miter lim="800000"/>
            <a:headEnd/>
            <a:tailEnd/>
          </a:ln>
        </p:spPr>
      </p:pic>
      <p:sp>
        <p:nvSpPr>
          <p:cNvPr id="16386" name="Rectangle 2"/>
          <p:cNvSpPr>
            <a:spLocks noChangeArrowheads="1"/>
          </p:cNvSpPr>
          <p:nvPr/>
        </p:nvSpPr>
        <p:spPr bwMode="auto">
          <a:xfrm>
            <a:off x="685800" y="3733800"/>
            <a:ext cx="8001000" cy="95410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and since current is constant (in magnitude) along the wire therefore,</a:t>
            </a:r>
            <a:endParaRPr kumimoji="0" lang="en-US" sz="2800" b="0" i="0" u="none" strike="noStrike" cap="none" normalizeH="0" baseline="0" smtClean="0">
              <a:ln>
                <a:noFill/>
              </a:ln>
              <a:solidFill>
                <a:schemeClr val="tx1"/>
              </a:solidFill>
              <a:effectLst/>
              <a:latin typeface="Arial" pitchFamily="34" charset="0"/>
              <a:cs typeface="Arial" pitchFamily="34" charset="0"/>
            </a:endParaRPr>
          </a:p>
        </p:txBody>
      </p:sp>
      <p:pic>
        <p:nvPicPr>
          <p:cNvPr id="6" name="Picture 5"/>
          <p:cNvPicPr/>
          <p:nvPr/>
        </p:nvPicPr>
        <p:blipFill>
          <a:blip r:embed="rId4"/>
          <a:srcRect/>
          <a:stretch>
            <a:fillRect/>
          </a:stretch>
        </p:blipFill>
        <p:spPr bwMode="auto">
          <a:xfrm>
            <a:off x="2743200" y="4724400"/>
            <a:ext cx="3429000" cy="1170305"/>
          </a:xfrm>
          <a:prstGeom prst="rect">
            <a:avLst/>
          </a:prstGeom>
          <a:noFill/>
          <a:ln w="9525">
            <a:noFill/>
            <a:miter lim="800000"/>
            <a:headEnd/>
            <a:tailEnd/>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1"/>
          <p:cNvSpPr>
            <a:spLocks noChangeArrowheads="1"/>
          </p:cNvSpPr>
          <p:nvPr/>
        </p:nvSpPr>
        <p:spPr bwMode="auto">
          <a:xfrm>
            <a:off x="609600" y="457200"/>
            <a:ext cx="5298182" cy="52322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When charges flows over a surface </a:t>
            </a:r>
            <a:endParaRPr kumimoji="0" lang="en-US" sz="2800" b="0" i="0" u="none" strike="noStrike" cap="none" normalizeH="0" baseline="0" smtClean="0">
              <a:ln>
                <a:noFill/>
              </a:ln>
              <a:solidFill>
                <a:schemeClr val="tx1"/>
              </a:solidFill>
              <a:effectLst/>
              <a:latin typeface="Arial" pitchFamily="34" charset="0"/>
              <a:cs typeface="Arial" pitchFamily="34" charset="0"/>
            </a:endParaRPr>
          </a:p>
        </p:txBody>
      </p:sp>
      <p:pic>
        <p:nvPicPr>
          <p:cNvPr id="3" name="Picture 2"/>
          <p:cNvPicPr/>
          <p:nvPr/>
        </p:nvPicPr>
        <p:blipFill>
          <a:blip r:embed="rId2"/>
          <a:srcRect/>
          <a:stretch>
            <a:fillRect/>
          </a:stretch>
        </p:blipFill>
        <p:spPr bwMode="auto">
          <a:xfrm>
            <a:off x="1905000" y="1219200"/>
            <a:ext cx="4495800" cy="2133600"/>
          </a:xfrm>
          <a:prstGeom prst="rect">
            <a:avLst/>
          </a:prstGeom>
          <a:noFill/>
          <a:ln w="9525">
            <a:noFill/>
            <a:miter lim="800000"/>
            <a:headEnd/>
            <a:tailEnd/>
          </a:ln>
        </p:spPr>
      </p:pic>
      <p:sp>
        <p:nvSpPr>
          <p:cNvPr id="17410" name="Rectangle 2"/>
          <p:cNvSpPr>
            <a:spLocks noChangeArrowheads="1"/>
          </p:cNvSpPr>
          <p:nvPr/>
        </p:nvSpPr>
        <p:spPr bwMode="auto">
          <a:xfrm>
            <a:off x="381000" y="3429000"/>
            <a:ext cx="5564344" cy="52322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we define surface current density  K  </a:t>
            </a:r>
            <a:endParaRPr kumimoji="0" lang="en-US" sz="2800" b="0" i="0" u="none" strike="noStrike" cap="none" normalizeH="0" baseline="0" smtClean="0">
              <a:ln>
                <a:noFill/>
              </a:ln>
              <a:solidFill>
                <a:schemeClr val="tx1"/>
              </a:solidFill>
              <a:effectLst/>
              <a:latin typeface="Arial" pitchFamily="34" charset="0"/>
              <a:cs typeface="Arial" pitchFamily="34" charset="0"/>
            </a:endParaRPr>
          </a:p>
        </p:txBody>
      </p:sp>
      <p:pic>
        <p:nvPicPr>
          <p:cNvPr id="5" name="Picture 4"/>
          <p:cNvPicPr/>
          <p:nvPr/>
        </p:nvPicPr>
        <p:blipFill>
          <a:blip r:embed="rId3"/>
          <a:srcRect/>
          <a:stretch>
            <a:fillRect/>
          </a:stretch>
        </p:blipFill>
        <p:spPr bwMode="auto">
          <a:xfrm>
            <a:off x="2743200" y="4191000"/>
            <a:ext cx="1282700" cy="791845"/>
          </a:xfrm>
          <a:prstGeom prst="rect">
            <a:avLst/>
          </a:prstGeom>
          <a:noFill/>
          <a:ln w="9525">
            <a:noFill/>
            <a:miter lim="800000"/>
            <a:headEnd/>
            <a:tailEnd/>
          </a:ln>
        </p:spPr>
      </p:pic>
      <p:sp>
        <p:nvSpPr>
          <p:cNvPr id="17411" name="Rectangle 3"/>
          <p:cNvSpPr>
            <a:spLocks noChangeArrowheads="1"/>
          </p:cNvSpPr>
          <p:nvPr/>
        </p:nvSpPr>
        <p:spPr bwMode="auto">
          <a:xfrm>
            <a:off x="152400" y="5105400"/>
            <a:ext cx="8763000" cy="95410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In particular, if the surface charge density is σ and its velocity is v, then</a:t>
            </a:r>
            <a:endParaRPr kumimoji="0" lang="en-US" sz="2800" b="0" i="0" u="none" strike="noStrike" cap="none" normalizeH="0" baseline="0" dirty="0" smtClean="0">
              <a:ln>
                <a:noFill/>
              </a:ln>
              <a:solidFill>
                <a:schemeClr val="tx1"/>
              </a:solidFill>
              <a:effectLst/>
              <a:latin typeface="Arial" pitchFamily="34" charset="0"/>
              <a:cs typeface="Arial" pitchFamily="34" charset="0"/>
            </a:endParaRPr>
          </a:p>
        </p:txBody>
      </p:sp>
      <p:pic>
        <p:nvPicPr>
          <p:cNvPr id="7" name="Picture 6"/>
          <p:cNvPicPr/>
          <p:nvPr/>
        </p:nvPicPr>
        <p:blipFill>
          <a:blip r:embed="rId4"/>
          <a:srcRect/>
          <a:stretch>
            <a:fillRect/>
          </a:stretch>
        </p:blipFill>
        <p:spPr bwMode="auto">
          <a:xfrm>
            <a:off x="2667000" y="6096000"/>
            <a:ext cx="1439545" cy="436880"/>
          </a:xfrm>
          <a:prstGeom prst="rect">
            <a:avLst/>
          </a:prstGeom>
          <a:noFill/>
          <a:ln w="9525">
            <a:noFill/>
            <a:miter lim="800000"/>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1"/>
          <p:cNvSpPr>
            <a:spLocks noChangeArrowheads="1"/>
          </p:cNvSpPr>
          <p:nvPr/>
        </p:nvSpPr>
        <p:spPr bwMode="auto">
          <a:xfrm>
            <a:off x="609600" y="457200"/>
            <a:ext cx="7085594" cy="52322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and the magnetic force on the surface current is </a:t>
            </a:r>
            <a:endParaRPr kumimoji="0" lang="en-US" sz="2800" b="0" i="0" u="none" strike="noStrike" cap="none" normalizeH="0" baseline="0" smtClean="0">
              <a:ln>
                <a:noFill/>
              </a:ln>
              <a:solidFill>
                <a:schemeClr val="tx1"/>
              </a:solidFill>
              <a:effectLst/>
              <a:latin typeface="Arial" pitchFamily="34" charset="0"/>
              <a:cs typeface="Arial" pitchFamily="34" charset="0"/>
            </a:endParaRPr>
          </a:p>
        </p:txBody>
      </p:sp>
      <p:pic>
        <p:nvPicPr>
          <p:cNvPr id="3" name="Picture 2"/>
          <p:cNvPicPr/>
          <p:nvPr/>
        </p:nvPicPr>
        <p:blipFill>
          <a:blip r:embed="rId2"/>
          <a:srcRect/>
          <a:stretch>
            <a:fillRect/>
          </a:stretch>
        </p:blipFill>
        <p:spPr bwMode="auto">
          <a:xfrm>
            <a:off x="990600" y="990600"/>
            <a:ext cx="6477000" cy="990600"/>
          </a:xfrm>
          <a:prstGeom prst="rect">
            <a:avLst/>
          </a:prstGeom>
          <a:noFill/>
          <a:ln w="9525">
            <a:noFill/>
            <a:miter lim="800000"/>
            <a:headEnd/>
            <a:tailEnd/>
          </a:ln>
        </p:spPr>
      </p:pic>
      <p:sp>
        <p:nvSpPr>
          <p:cNvPr id="18434" name="Rectangle 2"/>
          <p:cNvSpPr>
            <a:spLocks noChangeArrowheads="1"/>
          </p:cNvSpPr>
          <p:nvPr/>
        </p:nvSpPr>
        <p:spPr bwMode="auto">
          <a:xfrm>
            <a:off x="457200" y="2133600"/>
            <a:ext cx="8153400" cy="95410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Similarly,  we can define magnetic force in the form of volume current density  </a:t>
            </a:r>
            <a:endParaRPr kumimoji="0" lang="en-US" sz="2800" b="0" i="0" u="none" strike="noStrike" cap="none" normalizeH="0" baseline="0" dirty="0" smtClean="0">
              <a:ln>
                <a:noFill/>
              </a:ln>
              <a:solidFill>
                <a:schemeClr val="tx1"/>
              </a:solidFill>
              <a:effectLst/>
              <a:latin typeface="Arial" pitchFamily="34" charset="0"/>
              <a:cs typeface="Arial" pitchFamily="34" charset="0"/>
            </a:endParaRPr>
          </a:p>
        </p:txBody>
      </p:sp>
      <p:pic>
        <p:nvPicPr>
          <p:cNvPr id="5" name="Picture 4"/>
          <p:cNvPicPr/>
          <p:nvPr/>
        </p:nvPicPr>
        <p:blipFill>
          <a:blip r:embed="rId3"/>
          <a:srcRect/>
          <a:stretch>
            <a:fillRect/>
          </a:stretch>
        </p:blipFill>
        <p:spPr bwMode="auto">
          <a:xfrm>
            <a:off x="2286000" y="3200400"/>
            <a:ext cx="1323975" cy="921385"/>
          </a:xfrm>
          <a:prstGeom prst="rect">
            <a:avLst/>
          </a:prstGeom>
          <a:noFill/>
          <a:ln w="9525">
            <a:noFill/>
            <a:miter lim="800000"/>
            <a:headEnd/>
            <a:tailEnd/>
          </a:ln>
        </p:spPr>
      </p:pic>
      <p:pic>
        <p:nvPicPr>
          <p:cNvPr id="6" name="Picture 5"/>
          <p:cNvPicPr/>
          <p:nvPr/>
        </p:nvPicPr>
        <p:blipFill>
          <a:blip r:embed="rId4"/>
          <a:srcRect/>
          <a:stretch>
            <a:fillRect/>
          </a:stretch>
        </p:blipFill>
        <p:spPr bwMode="auto">
          <a:xfrm>
            <a:off x="3733800" y="3352800"/>
            <a:ext cx="1100066" cy="739258"/>
          </a:xfrm>
          <a:prstGeom prst="rect">
            <a:avLst/>
          </a:prstGeom>
          <a:noFill/>
          <a:ln w="9525">
            <a:noFill/>
            <a:miter lim="800000"/>
            <a:headEnd/>
            <a:tailEnd/>
          </a:ln>
        </p:spPr>
      </p:pic>
      <p:pic>
        <p:nvPicPr>
          <p:cNvPr id="7" name="Picture 6"/>
          <p:cNvPicPr/>
          <p:nvPr/>
        </p:nvPicPr>
        <p:blipFill>
          <a:blip r:embed="rId5"/>
          <a:srcRect/>
          <a:stretch>
            <a:fillRect/>
          </a:stretch>
        </p:blipFill>
        <p:spPr bwMode="auto">
          <a:xfrm>
            <a:off x="1295400" y="4343400"/>
            <a:ext cx="5943600" cy="1143000"/>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a:srcRect/>
          <a:stretch>
            <a:fillRect/>
          </a:stretch>
        </p:blipFill>
        <p:spPr bwMode="auto">
          <a:xfrm>
            <a:off x="2514600" y="304800"/>
            <a:ext cx="3276600" cy="1918057"/>
          </a:xfrm>
          <a:prstGeom prst="rect">
            <a:avLst/>
          </a:prstGeom>
          <a:noFill/>
          <a:ln w="9525">
            <a:noFill/>
            <a:miter lim="800000"/>
            <a:headEnd/>
            <a:tailEnd/>
          </a:ln>
        </p:spPr>
      </p:pic>
      <p:sp>
        <p:nvSpPr>
          <p:cNvPr id="19457" name="Rectangle 1"/>
          <p:cNvSpPr>
            <a:spLocks noChangeArrowheads="1"/>
          </p:cNvSpPr>
          <p:nvPr/>
        </p:nvSpPr>
        <p:spPr bwMode="auto">
          <a:xfrm>
            <a:off x="762000" y="2362200"/>
            <a:ext cx="7924800" cy="52322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The current crossing a surface can be written as </a:t>
            </a:r>
            <a:endParaRPr kumimoji="0" lang="en-US" sz="2800" b="0" i="0" u="none" strike="noStrike" cap="none" normalizeH="0" baseline="0" dirty="0" smtClean="0">
              <a:ln>
                <a:noFill/>
              </a:ln>
              <a:solidFill>
                <a:schemeClr val="tx1"/>
              </a:solidFill>
              <a:effectLst/>
              <a:latin typeface="Arial" pitchFamily="34" charset="0"/>
              <a:cs typeface="Arial" pitchFamily="34" charset="0"/>
            </a:endParaRPr>
          </a:p>
        </p:txBody>
      </p:sp>
      <p:pic>
        <p:nvPicPr>
          <p:cNvPr id="4" name="Picture 3"/>
          <p:cNvPicPr/>
          <p:nvPr/>
        </p:nvPicPr>
        <p:blipFill>
          <a:blip r:embed="rId3"/>
          <a:srcRect/>
          <a:stretch>
            <a:fillRect/>
          </a:stretch>
        </p:blipFill>
        <p:spPr bwMode="auto">
          <a:xfrm>
            <a:off x="2729547" y="2981960"/>
            <a:ext cx="3684905" cy="894080"/>
          </a:xfrm>
          <a:prstGeom prst="rect">
            <a:avLst/>
          </a:prstGeom>
          <a:noFill/>
          <a:ln w="9525">
            <a:noFill/>
            <a:miter lim="800000"/>
            <a:headEnd/>
            <a:tailEnd/>
          </a:ln>
        </p:spPr>
      </p:pic>
      <p:sp>
        <p:nvSpPr>
          <p:cNvPr id="19459" name="Rectangle 3"/>
          <p:cNvSpPr>
            <a:spLocks noChangeArrowheads="1"/>
          </p:cNvSpPr>
          <p:nvPr/>
        </p:nvSpPr>
        <p:spPr bwMode="auto">
          <a:xfrm>
            <a:off x="838200" y="4267200"/>
            <a:ext cx="7620000" cy="138499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and the total charge per unit time leaving a volume V is </a:t>
            </a:r>
            <a:endParaRPr kumimoji="0" lang="en-US" sz="280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2800" b="0" i="0" u="none" strike="noStrike" cap="none" normalizeH="0" baseline="0" dirty="0" smtClean="0">
              <a:ln>
                <a:noFill/>
              </a:ln>
              <a:solidFill>
                <a:schemeClr val="tx1"/>
              </a:solidFill>
              <a:effectLst/>
              <a:latin typeface="Times New Roman" pitchFamily="18" charset="0"/>
              <a:cs typeface="Times New Roman" pitchFamily="18" charset="0"/>
            </a:endParaRPr>
          </a:p>
        </p:txBody>
      </p:sp>
      <p:pic>
        <p:nvPicPr>
          <p:cNvPr id="19458" name="Picture 23"/>
          <p:cNvPicPr>
            <a:picLocks noChangeAspect="1" noChangeArrowheads="1"/>
          </p:cNvPicPr>
          <p:nvPr/>
        </p:nvPicPr>
        <p:blipFill>
          <a:blip r:embed="rId4"/>
          <a:srcRect/>
          <a:stretch>
            <a:fillRect/>
          </a:stretch>
        </p:blipFill>
        <p:spPr bwMode="auto">
          <a:xfrm>
            <a:off x="2828925" y="5257800"/>
            <a:ext cx="3495675" cy="876300"/>
          </a:xfrm>
          <a:prstGeom prst="rect">
            <a:avLst/>
          </a:prstGeom>
          <a:noFill/>
        </p:spPr>
      </p:pic>
      <p:sp>
        <p:nvSpPr>
          <p:cNvPr id="19460" name="Rectangle 4"/>
          <p:cNvSpPr>
            <a:spLocks noChangeArrowheads="1"/>
          </p:cNvSpPr>
          <p:nvPr/>
        </p:nvSpPr>
        <p:spPr bwMode="auto">
          <a:xfrm>
            <a:off x="0" y="13335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1"/>
          <p:cNvSpPr>
            <a:spLocks noChangeArrowheads="1"/>
          </p:cNvSpPr>
          <p:nvPr/>
        </p:nvSpPr>
        <p:spPr bwMode="auto">
          <a:xfrm>
            <a:off x="762000" y="304800"/>
            <a:ext cx="5367110" cy="52322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Since charge is conserved, therefore</a:t>
            </a:r>
            <a:endParaRPr kumimoji="0" lang="en-US" sz="2800" b="0" i="0" u="none" strike="noStrike" cap="none" normalizeH="0" baseline="0" smtClean="0">
              <a:ln>
                <a:noFill/>
              </a:ln>
              <a:solidFill>
                <a:schemeClr val="tx1"/>
              </a:solidFill>
              <a:effectLst/>
              <a:latin typeface="Arial" pitchFamily="34" charset="0"/>
              <a:cs typeface="Arial" pitchFamily="34" charset="0"/>
            </a:endParaRPr>
          </a:p>
        </p:txBody>
      </p:sp>
      <p:pic>
        <p:nvPicPr>
          <p:cNvPr id="3" name="Picture 2"/>
          <p:cNvPicPr/>
          <p:nvPr/>
        </p:nvPicPr>
        <p:blipFill>
          <a:blip r:embed="rId2"/>
          <a:srcRect/>
          <a:stretch>
            <a:fillRect/>
          </a:stretch>
        </p:blipFill>
        <p:spPr bwMode="auto">
          <a:xfrm>
            <a:off x="838200" y="990601"/>
            <a:ext cx="6705600" cy="762000"/>
          </a:xfrm>
          <a:prstGeom prst="rect">
            <a:avLst/>
          </a:prstGeom>
          <a:noFill/>
          <a:ln w="9525">
            <a:noFill/>
            <a:miter lim="800000"/>
            <a:headEnd/>
            <a:tailEnd/>
          </a:ln>
        </p:spPr>
      </p:pic>
      <p:sp>
        <p:nvSpPr>
          <p:cNvPr id="20482" name="Rectangle 2"/>
          <p:cNvSpPr>
            <a:spLocks noChangeArrowheads="1"/>
          </p:cNvSpPr>
          <p:nvPr/>
        </p:nvSpPr>
        <p:spPr bwMode="auto">
          <a:xfrm>
            <a:off x="762000" y="2057400"/>
            <a:ext cx="7924800" cy="138499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The minus sign indicated outward flow decreases the charge left in V and since this can be applies to any volume,  therefore</a:t>
            </a:r>
            <a:endParaRPr kumimoji="0" lang="en-US" sz="2800" b="0" i="0" u="none" strike="noStrike" cap="none" normalizeH="0" baseline="0" smtClean="0">
              <a:ln>
                <a:noFill/>
              </a:ln>
              <a:solidFill>
                <a:schemeClr val="tx1"/>
              </a:solidFill>
              <a:effectLst/>
              <a:latin typeface="Arial" pitchFamily="34" charset="0"/>
              <a:cs typeface="Arial" pitchFamily="34" charset="0"/>
            </a:endParaRPr>
          </a:p>
        </p:txBody>
      </p:sp>
      <p:pic>
        <p:nvPicPr>
          <p:cNvPr id="5" name="Picture 4"/>
          <p:cNvPicPr/>
          <p:nvPr/>
        </p:nvPicPr>
        <p:blipFill>
          <a:blip r:embed="rId3"/>
          <a:srcRect/>
          <a:stretch>
            <a:fillRect/>
          </a:stretch>
        </p:blipFill>
        <p:spPr bwMode="auto">
          <a:xfrm>
            <a:off x="3124200" y="3429000"/>
            <a:ext cx="2286000" cy="1374790"/>
          </a:xfrm>
          <a:prstGeom prst="rect">
            <a:avLst/>
          </a:prstGeom>
          <a:noFill/>
          <a:ln w="9525">
            <a:noFill/>
            <a:miter lim="800000"/>
            <a:headEnd/>
            <a:tailEnd/>
          </a:ln>
        </p:spPr>
      </p:pic>
      <p:sp>
        <p:nvSpPr>
          <p:cNvPr id="20483" name="Rectangle 3"/>
          <p:cNvSpPr>
            <a:spLocks noChangeArrowheads="1"/>
          </p:cNvSpPr>
          <p:nvPr/>
        </p:nvSpPr>
        <p:spPr bwMode="auto">
          <a:xfrm>
            <a:off x="838200" y="5029200"/>
            <a:ext cx="7848600" cy="95410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80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It is called </a:t>
            </a:r>
            <a:r>
              <a:rPr kumimoji="0" lang="en-US" sz="2800"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Equation of continuity </a:t>
            </a:r>
            <a:r>
              <a:rPr kumimoji="0" lang="en-US" sz="280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and reflects </a:t>
            </a:r>
            <a:r>
              <a:rPr kumimoji="0" lang="en-US" sz="2800"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local charge conservation.</a:t>
            </a:r>
            <a:endParaRPr kumimoji="0" lang="en-US" sz="2800" b="1"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1"/>
          <p:cNvSpPr>
            <a:spLocks noChangeArrowheads="1"/>
          </p:cNvSpPr>
          <p:nvPr/>
        </p:nvSpPr>
        <p:spPr bwMode="auto">
          <a:xfrm>
            <a:off x="2209800" y="228600"/>
            <a:ext cx="3028393" cy="52322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800" b="1"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Bio-Savart Law :- </a:t>
            </a:r>
            <a:endParaRPr kumimoji="0" lang="en-US" sz="2800" b="1" i="0" u="none" strike="noStrike" cap="none" normalizeH="0" baseline="0" smtClean="0">
              <a:ln>
                <a:noFill/>
              </a:ln>
              <a:solidFill>
                <a:schemeClr val="tx1"/>
              </a:solidFill>
              <a:effectLst/>
              <a:latin typeface="Arial" pitchFamily="34" charset="0"/>
              <a:cs typeface="Arial" pitchFamily="34" charset="0"/>
            </a:endParaRPr>
          </a:p>
        </p:txBody>
      </p:sp>
      <p:pic>
        <p:nvPicPr>
          <p:cNvPr id="3" name="Picture 2"/>
          <p:cNvPicPr/>
          <p:nvPr/>
        </p:nvPicPr>
        <p:blipFill>
          <a:blip r:embed="rId2"/>
          <a:srcRect/>
          <a:stretch>
            <a:fillRect/>
          </a:stretch>
        </p:blipFill>
        <p:spPr bwMode="auto">
          <a:xfrm>
            <a:off x="1066800" y="1066800"/>
            <a:ext cx="7162800" cy="1143000"/>
          </a:xfrm>
          <a:prstGeom prst="rect">
            <a:avLst/>
          </a:prstGeom>
          <a:noFill/>
          <a:ln w="9525">
            <a:noFill/>
            <a:miter lim="800000"/>
            <a:headEnd/>
            <a:tailEnd/>
          </a:ln>
        </p:spPr>
      </p:pic>
      <p:pic>
        <p:nvPicPr>
          <p:cNvPr id="4" name="Picture 3"/>
          <p:cNvPicPr/>
          <p:nvPr/>
        </p:nvPicPr>
        <p:blipFill>
          <a:blip r:embed="rId3"/>
          <a:srcRect/>
          <a:stretch>
            <a:fillRect/>
          </a:stretch>
        </p:blipFill>
        <p:spPr bwMode="auto">
          <a:xfrm>
            <a:off x="838200" y="2362200"/>
            <a:ext cx="7391400" cy="1600200"/>
          </a:xfrm>
          <a:prstGeom prst="rect">
            <a:avLst/>
          </a:prstGeom>
          <a:noFill/>
          <a:ln w="9525">
            <a:noFill/>
            <a:miter lim="800000"/>
            <a:headEnd/>
            <a:tailEnd/>
          </a:ln>
        </p:spPr>
      </p:pic>
      <p:pic>
        <p:nvPicPr>
          <p:cNvPr id="6" name="Picture 5"/>
          <p:cNvPicPr/>
          <p:nvPr/>
        </p:nvPicPr>
        <p:blipFill>
          <a:blip r:embed="rId4"/>
          <a:srcRect/>
          <a:stretch>
            <a:fillRect/>
          </a:stretch>
        </p:blipFill>
        <p:spPr bwMode="auto">
          <a:xfrm>
            <a:off x="5334000" y="4191000"/>
            <a:ext cx="3048000" cy="2057400"/>
          </a:xfrm>
          <a:prstGeom prst="rect">
            <a:avLst/>
          </a:prstGeom>
          <a:noFill/>
          <a:ln w="9525">
            <a:noFill/>
            <a:miter lim="800000"/>
            <a:headEnd/>
            <a:tailEnd/>
          </a:ln>
        </p:spPr>
      </p:pic>
      <p:pic>
        <p:nvPicPr>
          <p:cNvPr id="7" name="Picture 6"/>
          <p:cNvPicPr/>
          <p:nvPr/>
        </p:nvPicPr>
        <p:blipFill>
          <a:blip r:embed="rId5"/>
          <a:srcRect/>
          <a:stretch>
            <a:fillRect/>
          </a:stretch>
        </p:blipFill>
        <p:spPr bwMode="auto">
          <a:xfrm>
            <a:off x="457200" y="4800600"/>
            <a:ext cx="4724400" cy="381000"/>
          </a:xfrm>
          <a:prstGeom prst="rect">
            <a:avLst/>
          </a:prstGeom>
          <a:noFill/>
          <a:ln w="9525">
            <a:noFill/>
            <a:miter lim="800000"/>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ChangeArrowheads="1"/>
          </p:cNvSpPr>
          <p:nvPr/>
        </p:nvSpPr>
        <p:spPr bwMode="auto">
          <a:xfrm>
            <a:off x="0" y="1"/>
            <a:ext cx="2743200" cy="95410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Prob. :- </a:t>
            </a:r>
            <a:endParaRPr kumimoji="0" lang="en-US" sz="280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2800" b="0" i="0" u="none" strike="noStrike" cap="none" normalizeH="0" baseline="0" dirty="0" smtClean="0">
              <a:ln>
                <a:noFill/>
              </a:ln>
              <a:solidFill>
                <a:schemeClr val="tx1"/>
              </a:solidFill>
              <a:effectLst/>
              <a:latin typeface="Times New Roman" pitchFamily="18" charset="0"/>
              <a:cs typeface="Times New Roman" pitchFamily="18" charset="0"/>
            </a:endParaRPr>
          </a:p>
        </p:txBody>
      </p:sp>
      <p:pic>
        <p:nvPicPr>
          <p:cNvPr id="22529" name="Picture 31"/>
          <p:cNvPicPr>
            <a:picLocks noChangeAspect="1" noChangeArrowheads="1"/>
          </p:cNvPicPr>
          <p:nvPr/>
        </p:nvPicPr>
        <p:blipFill>
          <a:blip r:embed="rId2"/>
          <a:srcRect/>
          <a:stretch>
            <a:fillRect/>
          </a:stretch>
        </p:blipFill>
        <p:spPr bwMode="auto">
          <a:xfrm>
            <a:off x="87085" y="533400"/>
            <a:ext cx="8828315" cy="381000"/>
          </a:xfrm>
          <a:prstGeom prst="rect">
            <a:avLst/>
          </a:prstGeom>
          <a:noFill/>
        </p:spPr>
      </p:pic>
      <p:sp>
        <p:nvSpPr>
          <p:cNvPr id="22531" name="Rectangle 3"/>
          <p:cNvSpPr>
            <a:spLocks noChangeArrowheads="1"/>
          </p:cNvSpPr>
          <p:nvPr/>
        </p:nvSpPr>
        <p:spPr bwMode="auto">
          <a:xfrm>
            <a:off x="0" y="657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pic>
        <p:nvPicPr>
          <p:cNvPr id="5" name="Picture 4"/>
          <p:cNvPicPr/>
          <p:nvPr/>
        </p:nvPicPr>
        <p:blipFill>
          <a:blip r:embed="rId3"/>
          <a:srcRect/>
          <a:stretch>
            <a:fillRect/>
          </a:stretch>
        </p:blipFill>
        <p:spPr bwMode="auto">
          <a:xfrm>
            <a:off x="228600" y="1219200"/>
            <a:ext cx="7620000" cy="2895600"/>
          </a:xfrm>
          <a:prstGeom prst="rect">
            <a:avLst/>
          </a:prstGeom>
          <a:noFill/>
          <a:ln w="9525">
            <a:noFill/>
            <a:miter lim="800000"/>
            <a:headEnd/>
            <a:tailEnd/>
          </a:ln>
        </p:spPr>
      </p:pic>
      <p:pic>
        <p:nvPicPr>
          <p:cNvPr id="6" name="Picture 5"/>
          <p:cNvPicPr/>
          <p:nvPr/>
        </p:nvPicPr>
        <p:blipFill>
          <a:blip r:embed="rId4"/>
          <a:srcRect/>
          <a:stretch>
            <a:fillRect/>
          </a:stretch>
        </p:blipFill>
        <p:spPr bwMode="auto">
          <a:xfrm>
            <a:off x="1066800" y="4191000"/>
            <a:ext cx="6553200" cy="2362200"/>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a:srcRect/>
          <a:stretch>
            <a:fillRect/>
          </a:stretch>
        </p:blipFill>
        <p:spPr bwMode="auto">
          <a:xfrm>
            <a:off x="914400" y="304800"/>
            <a:ext cx="6858000" cy="1905000"/>
          </a:xfrm>
          <a:prstGeom prst="rect">
            <a:avLst/>
          </a:prstGeom>
          <a:noFill/>
          <a:ln w="9525">
            <a:noFill/>
            <a:miter lim="800000"/>
            <a:headEnd/>
            <a:tailEnd/>
          </a:ln>
        </p:spPr>
      </p:pic>
      <p:pic>
        <p:nvPicPr>
          <p:cNvPr id="3" name="Picture 2"/>
          <p:cNvPicPr/>
          <p:nvPr/>
        </p:nvPicPr>
        <p:blipFill>
          <a:blip r:embed="rId3"/>
          <a:srcRect/>
          <a:stretch>
            <a:fillRect/>
          </a:stretch>
        </p:blipFill>
        <p:spPr bwMode="auto">
          <a:xfrm>
            <a:off x="1066800" y="2438400"/>
            <a:ext cx="1183780" cy="264300"/>
          </a:xfrm>
          <a:prstGeom prst="rect">
            <a:avLst/>
          </a:prstGeom>
          <a:noFill/>
          <a:ln w="9525">
            <a:noFill/>
            <a:miter lim="800000"/>
            <a:headEnd/>
            <a:tailEnd/>
          </a:ln>
        </p:spPr>
      </p:pic>
      <p:pic>
        <p:nvPicPr>
          <p:cNvPr id="4" name="Picture 3"/>
          <p:cNvPicPr/>
          <p:nvPr/>
        </p:nvPicPr>
        <p:blipFill>
          <a:blip r:embed="rId4"/>
          <a:srcRect/>
          <a:stretch>
            <a:fillRect/>
          </a:stretch>
        </p:blipFill>
        <p:spPr bwMode="auto">
          <a:xfrm>
            <a:off x="1066800" y="2895600"/>
            <a:ext cx="6629400" cy="1295400"/>
          </a:xfrm>
          <a:prstGeom prst="rect">
            <a:avLst/>
          </a:prstGeom>
          <a:noFill/>
          <a:ln w="9525">
            <a:noFill/>
            <a:miter lim="800000"/>
            <a:headEnd/>
            <a:tailEnd/>
          </a:ln>
        </p:spPr>
      </p:pic>
      <p:sp>
        <p:nvSpPr>
          <p:cNvPr id="5" name="Rectangle 4"/>
          <p:cNvSpPr/>
          <p:nvPr/>
        </p:nvSpPr>
        <p:spPr>
          <a:xfrm>
            <a:off x="533400" y="4419600"/>
            <a:ext cx="5181600" cy="1815882"/>
          </a:xfrm>
          <a:prstGeom prst="rect">
            <a:avLst/>
          </a:prstGeom>
        </p:spPr>
        <p:txBody>
          <a:bodyPr wrap="square">
            <a:spAutoFit/>
          </a:bodyPr>
          <a:lstStyle/>
          <a:p>
            <a:pPr algn="just"/>
            <a:r>
              <a:rPr lang="en-US" sz="2800" b="1" dirty="0" smtClean="0">
                <a:latin typeface="Times New Roman" pitchFamily="18" charset="0"/>
                <a:cs typeface="Times New Roman" pitchFamily="18" charset="0"/>
              </a:rPr>
              <a:t>Prob.  </a:t>
            </a:r>
            <a:r>
              <a:rPr lang="en-US" sz="2800" dirty="0" smtClean="0">
                <a:latin typeface="Times New Roman" pitchFamily="18" charset="0"/>
                <a:cs typeface="Times New Roman" pitchFamily="18" charset="0"/>
              </a:rPr>
              <a:t>Find the force of attraction between two long parallel wires at a distance d apart, carrying a current as shown in figure. </a:t>
            </a:r>
            <a:endParaRPr lang="en-US" sz="2800" dirty="0">
              <a:latin typeface="Times New Roman" pitchFamily="18" charset="0"/>
              <a:cs typeface="Times New Roman" pitchFamily="18" charset="0"/>
            </a:endParaRPr>
          </a:p>
        </p:txBody>
      </p:sp>
      <p:pic>
        <p:nvPicPr>
          <p:cNvPr id="6" name="Picture 5"/>
          <p:cNvPicPr/>
          <p:nvPr/>
        </p:nvPicPr>
        <p:blipFill>
          <a:blip r:embed="rId5"/>
          <a:srcRect/>
          <a:stretch>
            <a:fillRect/>
          </a:stretch>
        </p:blipFill>
        <p:spPr bwMode="auto">
          <a:xfrm>
            <a:off x="6858000" y="4038600"/>
            <a:ext cx="1981200" cy="2362200"/>
          </a:xfrm>
          <a:prstGeom prst="rect">
            <a:avLst/>
          </a:prstGeom>
          <a:noFill/>
          <a:ln w="9525">
            <a:noFill/>
            <a:miter lim="800000"/>
            <a:headEnd/>
            <a:tailE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1"/>
          <p:cNvSpPr>
            <a:spLocks noChangeArrowheads="1"/>
          </p:cNvSpPr>
          <p:nvPr/>
        </p:nvSpPr>
        <p:spPr bwMode="auto">
          <a:xfrm>
            <a:off x="457200" y="228600"/>
            <a:ext cx="5943600" cy="181588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800"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Prob.2:-</a:t>
            </a:r>
            <a:r>
              <a:rPr kumimoji="0" lang="en-US" sz="28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 Find the magnetic field at a distance z above the center of a circular loop </a:t>
            </a:r>
            <a:r>
              <a:rPr kumimoji="0" lang="en-US" sz="28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of </a:t>
            </a:r>
            <a:r>
              <a:rPr kumimoji="0" lang="en-US" sz="28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radius R, which carries a steady current I as in fig. </a:t>
            </a:r>
            <a:endParaRPr kumimoji="0" lang="en-US" sz="2800" b="0" i="0" u="none" strike="noStrike" cap="none" normalizeH="0" baseline="0" dirty="0" smtClean="0">
              <a:ln>
                <a:noFill/>
              </a:ln>
              <a:solidFill>
                <a:schemeClr val="tx1"/>
              </a:solidFill>
              <a:effectLst/>
              <a:latin typeface="Arial" pitchFamily="34" charset="0"/>
              <a:cs typeface="Arial" pitchFamily="34" charset="0"/>
            </a:endParaRPr>
          </a:p>
        </p:txBody>
      </p:sp>
      <p:pic>
        <p:nvPicPr>
          <p:cNvPr id="3" name="Picture 2"/>
          <p:cNvPicPr/>
          <p:nvPr/>
        </p:nvPicPr>
        <p:blipFill>
          <a:blip r:embed="rId2"/>
          <a:srcRect/>
          <a:stretch>
            <a:fillRect/>
          </a:stretch>
        </p:blipFill>
        <p:spPr bwMode="auto">
          <a:xfrm>
            <a:off x="6400800" y="304800"/>
            <a:ext cx="2514600" cy="2362200"/>
          </a:xfrm>
          <a:prstGeom prst="rect">
            <a:avLst/>
          </a:prstGeom>
          <a:noFill/>
          <a:ln w="9525">
            <a:noFill/>
            <a:miter lim="800000"/>
            <a:headEnd/>
            <a:tailEnd/>
          </a:ln>
        </p:spPr>
      </p:pic>
      <p:pic>
        <p:nvPicPr>
          <p:cNvPr id="4" name="Picture 3"/>
          <p:cNvPicPr/>
          <p:nvPr/>
        </p:nvPicPr>
        <p:blipFill>
          <a:blip r:embed="rId3"/>
          <a:srcRect/>
          <a:stretch>
            <a:fillRect/>
          </a:stretch>
        </p:blipFill>
        <p:spPr bwMode="auto">
          <a:xfrm>
            <a:off x="228600" y="2729250"/>
            <a:ext cx="8458200" cy="2147550"/>
          </a:xfrm>
          <a:prstGeom prst="rect">
            <a:avLst/>
          </a:prstGeom>
          <a:noFill/>
          <a:ln w="9525">
            <a:noFill/>
            <a:miter lim="800000"/>
            <a:headEnd/>
            <a:tailEnd/>
          </a:ln>
        </p:spPr>
      </p:pic>
      <p:pic>
        <p:nvPicPr>
          <p:cNvPr id="5" name="Picture 4"/>
          <p:cNvPicPr/>
          <p:nvPr/>
        </p:nvPicPr>
        <p:blipFill>
          <a:blip r:embed="rId4"/>
          <a:srcRect/>
          <a:stretch>
            <a:fillRect/>
          </a:stretch>
        </p:blipFill>
        <p:spPr bwMode="auto">
          <a:xfrm>
            <a:off x="1295400" y="5029200"/>
            <a:ext cx="6096000" cy="914400"/>
          </a:xfrm>
          <a:prstGeom prst="rect">
            <a:avLst/>
          </a:prstGeom>
          <a:noFill/>
          <a:ln w="9525">
            <a:noFill/>
            <a:miter lim="800000"/>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a:srcRect/>
          <a:stretch>
            <a:fillRect/>
          </a:stretch>
        </p:blipFill>
        <p:spPr bwMode="auto">
          <a:xfrm>
            <a:off x="533400" y="381000"/>
            <a:ext cx="8229600" cy="1371600"/>
          </a:xfrm>
          <a:prstGeom prst="rect">
            <a:avLst/>
          </a:prstGeom>
          <a:noFill/>
          <a:ln w="9525">
            <a:noFill/>
            <a:miter lim="800000"/>
            <a:headEnd/>
            <a:tailEnd/>
          </a:ln>
        </p:spPr>
      </p:pic>
      <p:pic>
        <p:nvPicPr>
          <p:cNvPr id="3" name="Picture 2"/>
          <p:cNvPicPr/>
          <p:nvPr/>
        </p:nvPicPr>
        <p:blipFill>
          <a:blip r:embed="rId3"/>
          <a:srcRect/>
          <a:stretch>
            <a:fillRect/>
          </a:stretch>
        </p:blipFill>
        <p:spPr bwMode="auto">
          <a:xfrm>
            <a:off x="990600" y="2851150"/>
            <a:ext cx="2654300" cy="730250"/>
          </a:xfrm>
          <a:prstGeom prst="rect">
            <a:avLst/>
          </a:prstGeom>
          <a:noFill/>
          <a:ln w="9525">
            <a:noFill/>
            <a:miter lim="800000"/>
            <a:headEnd/>
            <a:tailEnd/>
          </a:ln>
        </p:spPr>
      </p:pic>
      <p:sp>
        <p:nvSpPr>
          <p:cNvPr id="25601" name="Rectangle 1"/>
          <p:cNvSpPr>
            <a:spLocks noChangeArrowheads="1"/>
          </p:cNvSpPr>
          <p:nvPr/>
        </p:nvSpPr>
        <p:spPr bwMode="auto">
          <a:xfrm>
            <a:off x="228600" y="2209800"/>
            <a:ext cx="4254626" cy="52322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For a moving point charge,  </a:t>
            </a:r>
            <a:endParaRPr kumimoji="0" lang="en-US" sz="2800" b="0" i="0" u="none" strike="noStrike" cap="none" normalizeH="0" baseline="0" smtClean="0">
              <a:ln>
                <a:noFill/>
              </a:ln>
              <a:solidFill>
                <a:schemeClr val="tx1"/>
              </a:solidFill>
              <a:effectLst/>
              <a:latin typeface="Arial" pitchFamily="34" charset="0"/>
              <a:cs typeface="Arial" pitchFamily="34" charset="0"/>
            </a:endParaRPr>
          </a:p>
        </p:txBody>
      </p:sp>
      <p:sp>
        <p:nvSpPr>
          <p:cNvPr id="25602" name="Rectangle 2"/>
          <p:cNvSpPr>
            <a:spLocks noChangeArrowheads="1"/>
          </p:cNvSpPr>
          <p:nvPr/>
        </p:nvSpPr>
        <p:spPr bwMode="auto">
          <a:xfrm>
            <a:off x="304800" y="3733800"/>
            <a:ext cx="2066591" cy="52322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Is it correct ?</a:t>
            </a:r>
            <a:endParaRPr kumimoji="0" lang="en-US" sz="2800" b="0" i="0" u="none" strike="noStrike" cap="none" normalizeH="0" baseline="0" smtClean="0">
              <a:ln>
                <a:noFill/>
              </a:ln>
              <a:solidFill>
                <a:schemeClr val="tx1"/>
              </a:solidFill>
              <a:effectLst/>
              <a:latin typeface="Arial" pitchFamily="34" charset="0"/>
              <a:cs typeface="Arial"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26625" name="Picture 45"/>
          <p:cNvPicPr>
            <a:picLocks noChangeAspect="1" noChangeArrowheads="1"/>
          </p:cNvPicPr>
          <p:nvPr/>
        </p:nvPicPr>
        <p:blipFill>
          <a:blip r:embed="rId3"/>
          <a:srcRect/>
          <a:stretch>
            <a:fillRect/>
          </a:stretch>
        </p:blipFill>
        <p:spPr bwMode="auto">
          <a:xfrm>
            <a:off x="1676400" y="228600"/>
            <a:ext cx="5573486" cy="609600"/>
          </a:xfrm>
          <a:prstGeom prst="rect">
            <a:avLst/>
          </a:prstGeom>
          <a:noFill/>
        </p:spPr>
      </p:pic>
      <p:sp>
        <p:nvSpPr>
          <p:cNvPr id="26627" name="Rectangle 3"/>
          <p:cNvSpPr>
            <a:spLocks noChangeArrowheads="1"/>
          </p:cNvSpPr>
          <p:nvPr/>
        </p:nvSpPr>
        <p:spPr bwMode="auto">
          <a:xfrm>
            <a:off x="0" y="8572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5" name="Rectangle 4"/>
          <p:cNvSpPr/>
          <p:nvPr/>
        </p:nvSpPr>
        <p:spPr>
          <a:xfrm>
            <a:off x="457200" y="914400"/>
            <a:ext cx="8077200" cy="954107"/>
          </a:xfrm>
          <a:prstGeom prst="rect">
            <a:avLst/>
          </a:prstGeom>
        </p:spPr>
        <p:txBody>
          <a:bodyPr wrap="square">
            <a:spAutoFit/>
          </a:bodyPr>
          <a:lstStyle/>
          <a:p>
            <a:pPr algn="just"/>
            <a:r>
              <a:rPr lang="en-US" sz="2800" dirty="0" smtClean="0">
                <a:latin typeface="Times New Roman" pitchFamily="18" charset="0"/>
                <a:cs typeface="Times New Roman" pitchFamily="18" charset="0"/>
              </a:rPr>
              <a:t>The integral of </a:t>
            </a:r>
            <a:r>
              <a:rPr lang="en-US" sz="2800" b="1" dirty="0" smtClean="0">
                <a:latin typeface="Times New Roman" pitchFamily="18" charset="0"/>
                <a:cs typeface="Times New Roman" pitchFamily="18" charset="0"/>
              </a:rPr>
              <a:t>B</a:t>
            </a:r>
            <a:r>
              <a:rPr lang="en-US" sz="2800" dirty="0" smtClean="0">
                <a:latin typeface="Times New Roman" pitchFamily="18" charset="0"/>
                <a:cs typeface="Times New Roman" pitchFamily="18" charset="0"/>
              </a:rPr>
              <a:t> around a circular path of radius s, centered at the wire, is </a:t>
            </a:r>
            <a:endParaRPr lang="en-US" sz="2800" dirty="0">
              <a:latin typeface="Times New Roman" pitchFamily="18" charset="0"/>
              <a:cs typeface="Times New Roman" pitchFamily="18" charset="0"/>
            </a:endParaRPr>
          </a:p>
        </p:txBody>
      </p:sp>
      <p:pic>
        <p:nvPicPr>
          <p:cNvPr id="6" name="Picture 5"/>
          <p:cNvPicPr/>
          <p:nvPr/>
        </p:nvPicPr>
        <p:blipFill>
          <a:blip r:embed="rId4"/>
          <a:srcRect/>
          <a:stretch>
            <a:fillRect/>
          </a:stretch>
        </p:blipFill>
        <p:spPr bwMode="auto">
          <a:xfrm>
            <a:off x="1752600" y="2057400"/>
            <a:ext cx="6019800" cy="1273652"/>
          </a:xfrm>
          <a:prstGeom prst="rect">
            <a:avLst/>
          </a:prstGeom>
          <a:noFill/>
          <a:ln w="9525">
            <a:noFill/>
            <a:miter lim="800000"/>
            <a:headEnd/>
            <a:tailEnd/>
          </a:ln>
        </p:spPr>
      </p:pic>
      <p:sp>
        <p:nvSpPr>
          <p:cNvPr id="26628" name="Rectangle 4"/>
          <p:cNvSpPr>
            <a:spLocks noChangeArrowheads="1"/>
          </p:cNvSpPr>
          <p:nvPr/>
        </p:nvSpPr>
        <p:spPr bwMode="auto">
          <a:xfrm>
            <a:off x="381000" y="3389293"/>
            <a:ext cx="8534400" cy="95410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If we have bundle of straight wires, the line integral will then be </a:t>
            </a:r>
            <a:endParaRPr kumimoji="0" lang="en-US" sz="2800" b="0" i="0" u="none" strike="noStrike" cap="none" normalizeH="0" baseline="0" smtClean="0">
              <a:ln>
                <a:noFill/>
              </a:ln>
              <a:solidFill>
                <a:schemeClr val="tx1"/>
              </a:solidFill>
              <a:effectLst/>
              <a:latin typeface="Arial" pitchFamily="34" charset="0"/>
              <a:cs typeface="Arial" pitchFamily="34" charset="0"/>
            </a:endParaRPr>
          </a:p>
        </p:txBody>
      </p:sp>
      <p:pic>
        <p:nvPicPr>
          <p:cNvPr id="8" name="Picture 7"/>
          <p:cNvPicPr/>
          <p:nvPr/>
        </p:nvPicPr>
        <p:blipFill>
          <a:blip r:embed="rId5"/>
          <a:srcRect/>
          <a:stretch>
            <a:fillRect/>
          </a:stretch>
        </p:blipFill>
        <p:spPr bwMode="auto">
          <a:xfrm>
            <a:off x="2514600" y="4114800"/>
            <a:ext cx="3048000" cy="923290"/>
          </a:xfrm>
          <a:prstGeom prst="rect">
            <a:avLst/>
          </a:prstGeom>
          <a:noFill/>
          <a:ln w="9525">
            <a:noFill/>
            <a:miter lim="800000"/>
            <a:headEnd/>
            <a:tailEnd/>
          </a:ln>
        </p:spPr>
      </p:pic>
      <p:pic>
        <p:nvPicPr>
          <p:cNvPr id="9" name="Picture 8"/>
          <p:cNvPicPr/>
          <p:nvPr/>
        </p:nvPicPr>
        <p:blipFill>
          <a:blip r:embed="rId6"/>
          <a:srcRect/>
          <a:stretch>
            <a:fillRect/>
          </a:stretch>
        </p:blipFill>
        <p:spPr bwMode="auto">
          <a:xfrm>
            <a:off x="457200" y="5257800"/>
            <a:ext cx="8153400" cy="609600"/>
          </a:xfrm>
          <a:prstGeom prst="rect">
            <a:avLst/>
          </a:prstGeom>
          <a:noFill/>
          <a:ln w="9525">
            <a:noFill/>
            <a:miter lim="800000"/>
            <a:headEnd/>
            <a:tailEnd/>
          </a:ln>
        </p:spPr>
      </p:pic>
      <p:pic>
        <p:nvPicPr>
          <p:cNvPr id="10" name="Picture 9"/>
          <p:cNvPicPr/>
          <p:nvPr/>
        </p:nvPicPr>
        <p:blipFill>
          <a:blip r:embed="rId7"/>
          <a:srcRect/>
          <a:stretch>
            <a:fillRect/>
          </a:stretch>
        </p:blipFill>
        <p:spPr bwMode="auto">
          <a:xfrm>
            <a:off x="2667000" y="5791200"/>
            <a:ext cx="2743200" cy="990600"/>
          </a:xfrm>
          <a:prstGeom prst="rect">
            <a:avLst/>
          </a:prstGeom>
          <a:noFill/>
          <a:ln w="9525">
            <a:noFill/>
            <a:miter lim="800000"/>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a:srcRect/>
          <a:stretch>
            <a:fillRect/>
          </a:stretch>
        </p:blipFill>
        <p:spPr bwMode="auto">
          <a:xfrm>
            <a:off x="457200" y="381000"/>
            <a:ext cx="8229600" cy="381000"/>
          </a:xfrm>
          <a:prstGeom prst="rect">
            <a:avLst/>
          </a:prstGeom>
          <a:noFill/>
          <a:ln w="9525">
            <a:noFill/>
            <a:miter lim="800000"/>
            <a:headEnd/>
            <a:tailEnd/>
          </a:ln>
        </p:spPr>
      </p:pic>
      <p:pic>
        <p:nvPicPr>
          <p:cNvPr id="3" name="Picture 2"/>
          <p:cNvPicPr/>
          <p:nvPr/>
        </p:nvPicPr>
        <p:blipFill>
          <a:blip r:embed="rId3"/>
          <a:srcRect/>
          <a:stretch>
            <a:fillRect/>
          </a:stretch>
        </p:blipFill>
        <p:spPr bwMode="auto">
          <a:xfrm>
            <a:off x="304800" y="1143000"/>
            <a:ext cx="7162800" cy="1447800"/>
          </a:xfrm>
          <a:prstGeom prst="rect">
            <a:avLst/>
          </a:prstGeom>
          <a:noFill/>
          <a:ln w="9525">
            <a:noFill/>
            <a:miter lim="800000"/>
            <a:headEnd/>
            <a:tailEnd/>
          </a:ln>
        </p:spPr>
      </p:pic>
      <p:sp>
        <p:nvSpPr>
          <p:cNvPr id="27649" name="Rectangle 1"/>
          <p:cNvSpPr>
            <a:spLocks noChangeArrowheads="1"/>
          </p:cNvSpPr>
          <p:nvPr/>
        </p:nvSpPr>
        <p:spPr bwMode="auto">
          <a:xfrm>
            <a:off x="381000" y="2667000"/>
            <a:ext cx="8734110" cy="95410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proof is for the simplest case of infinitely long straight wires.</a:t>
            </a:r>
            <a:endParaRPr kumimoji="0" lang="en-US" sz="2800" b="0" i="0" u="none" strike="noStrike" cap="none" normalizeH="0" baseline="0" dirty="0" smtClean="0">
              <a:ln>
                <a:noFill/>
              </a:ln>
              <a:solidFill>
                <a:schemeClr val="tx1"/>
              </a:solidFill>
              <a:effectLst/>
              <a:latin typeface="Arial" pitchFamily="34" charset="0"/>
              <a:cs typeface="Arial" pitchFamily="34" charset="0"/>
            </a:endParaRPr>
          </a:p>
        </p:txBody>
      </p:sp>
      <p:sp>
        <p:nvSpPr>
          <p:cNvPr id="5" name="Rectangle 4"/>
          <p:cNvSpPr/>
          <p:nvPr/>
        </p:nvSpPr>
        <p:spPr>
          <a:xfrm>
            <a:off x="609600" y="3581400"/>
            <a:ext cx="2643672" cy="523220"/>
          </a:xfrm>
          <a:prstGeom prst="rect">
            <a:avLst/>
          </a:prstGeom>
        </p:spPr>
        <p:txBody>
          <a:bodyPr wrap="none">
            <a:spAutoFit/>
          </a:bodyPr>
          <a:lstStyle/>
          <a:p>
            <a:r>
              <a:rPr lang="en-US" sz="2800" dirty="0" smtClean="0">
                <a:latin typeface="Times New Roman" pitchFamily="18" charset="0"/>
                <a:cs typeface="Times New Roman" pitchFamily="18" charset="0"/>
              </a:rPr>
              <a:t>In general case:- </a:t>
            </a:r>
            <a:endParaRPr lang="en-US" sz="2800" dirty="0">
              <a:latin typeface="Times New Roman" pitchFamily="18" charset="0"/>
              <a:cs typeface="Times New Roman" pitchFamily="18" charset="0"/>
            </a:endParaRPr>
          </a:p>
        </p:txBody>
      </p:sp>
      <p:pic>
        <p:nvPicPr>
          <p:cNvPr id="6" name="Picture 5"/>
          <p:cNvPicPr/>
          <p:nvPr/>
        </p:nvPicPr>
        <p:blipFill>
          <a:blip r:embed="rId4"/>
          <a:srcRect/>
          <a:stretch>
            <a:fillRect/>
          </a:stretch>
        </p:blipFill>
        <p:spPr bwMode="auto">
          <a:xfrm>
            <a:off x="609600" y="4267200"/>
            <a:ext cx="7772400" cy="1752600"/>
          </a:xfrm>
          <a:prstGeom prst="rect">
            <a:avLst/>
          </a:prstGeom>
          <a:noFill/>
          <a:ln w="9525">
            <a:no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a:srcRect/>
          <a:stretch>
            <a:fillRect/>
          </a:stretch>
        </p:blipFill>
        <p:spPr bwMode="auto">
          <a:xfrm>
            <a:off x="6448425" y="1066800"/>
            <a:ext cx="2695575" cy="2763520"/>
          </a:xfrm>
          <a:prstGeom prst="rect">
            <a:avLst/>
          </a:prstGeom>
          <a:noFill/>
          <a:ln w="9525">
            <a:noFill/>
            <a:miter lim="800000"/>
            <a:headEnd/>
            <a:tailEnd/>
          </a:ln>
        </p:spPr>
      </p:pic>
      <p:sp>
        <p:nvSpPr>
          <p:cNvPr id="1025" name="Rectangle 1"/>
          <p:cNvSpPr>
            <a:spLocks noChangeArrowheads="1"/>
          </p:cNvSpPr>
          <p:nvPr/>
        </p:nvSpPr>
        <p:spPr bwMode="auto">
          <a:xfrm>
            <a:off x="304800" y="609600"/>
            <a:ext cx="6400800" cy="138499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This formula gives the magnetic field at a point r = (x, y, z) in terms of an integral over the current distribution J (x', y', z'). i.e.</a:t>
            </a:r>
            <a:endParaRPr kumimoji="0" lang="en-US" sz="2800" b="0" i="0" u="none" strike="noStrike" cap="none" normalizeH="0" baseline="0" dirty="0" smtClean="0">
              <a:ln>
                <a:noFill/>
              </a:ln>
              <a:solidFill>
                <a:schemeClr val="tx1"/>
              </a:solidFill>
              <a:effectLst/>
              <a:latin typeface="Arial" pitchFamily="34" charset="0"/>
              <a:cs typeface="Arial" pitchFamily="34" charset="0"/>
            </a:endParaRPr>
          </a:p>
        </p:txBody>
      </p:sp>
      <p:pic>
        <p:nvPicPr>
          <p:cNvPr id="4" name="Picture 3"/>
          <p:cNvPicPr/>
          <p:nvPr/>
        </p:nvPicPr>
        <p:blipFill>
          <a:blip r:embed="rId3"/>
          <a:srcRect/>
          <a:stretch>
            <a:fillRect/>
          </a:stretch>
        </p:blipFill>
        <p:spPr bwMode="auto">
          <a:xfrm>
            <a:off x="609600" y="2438400"/>
            <a:ext cx="5257800" cy="2078990"/>
          </a:xfrm>
          <a:prstGeom prst="rect">
            <a:avLst/>
          </a:prstGeom>
          <a:noFill/>
          <a:ln w="9525">
            <a:noFill/>
            <a:miter lim="800000"/>
            <a:headEnd/>
            <a:tailEnd/>
          </a:ln>
        </p:spPr>
      </p:pic>
      <p:pic>
        <p:nvPicPr>
          <p:cNvPr id="5" name="Picture 4"/>
          <p:cNvPicPr/>
          <p:nvPr/>
        </p:nvPicPr>
        <p:blipFill>
          <a:blip r:embed="rId4"/>
          <a:srcRect/>
          <a:stretch>
            <a:fillRect/>
          </a:stretch>
        </p:blipFill>
        <p:spPr bwMode="auto">
          <a:xfrm>
            <a:off x="304800" y="4648200"/>
            <a:ext cx="8382000" cy="910388"/>
          </a:xfrm>
          <a:prstGeom prst="rect">
            <a:avLst/>
          </a:prstGeom>
          <a:noFill/>
          <a:ln w="9525">
            <a:noFill/>
            <a:miter lim="800000"/>
            <a:headEnd/>
            <a:tailEnd/>
          </a:ln>
        </p:spPr>
      </p:pic>
      <p:pic>
        <p:nvPicPr>
          <p:cNvPr id="6" name="Picture 5"/>
          <p:cNvPicPr/>
          <p:nvPr/>
        </p:nvPicPr>
        <p:blipFill>
          <a:blip r:embed="rId5"/>
          <a:srcRect/>
          <a:stretch>
            <a:fillRect/>
          </a:stretch>
        </p:blipFill>
        <p:spPr bwMode="auto">
          <a:xfrm>
            <a:off x="1905000" y="5565140"/>
            <a:ext cx="4876800" cy="1216660"/>
          </a:xfrm>
          <a:prstGeom prst="rect">
            <a:avLst/>
          </a:prstGeom>
          <a:noFill/>
          <a:ln w="9525">
            <a:noFill/>
            <a:miter lim="800000"/>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1"/>
          <p:cNvSpPr>
            <a:spLocks noChangeArrowheads="1"/>
          </p:cNvSpPr>
          <p:nvPr/>
        </p:nvSpPr>
        <p:spPr bwMode="auto">
          <a:xfrm>
            <a:off x="838200" y="609600"/>
            <a:ext cx="965329" cy="52322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since</a:t>
            </a:r>
            <a:r>
              <a:rPr kumimoji="0" lang="en-US" sz="14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 </a:t>
            </a: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pic>
        <p:nvPicPr>
          <p:cNvPr id="3" name="Picture 2"/>
          <p:cNvPicPr/>
          <p:nvPr/>
        </p:nvPicPr>
        <p:blipFill>
          <a:blip r:embed="rId2"/>
          <a:srcRect/>
          <a:stretch>
            <a:fillRect/>
          </a:stretch>
        </p:blipFill>
        <p:spPr bwMode="auto">
          <a:xfrm>
            <a:off x="1295400" y="1143000"/>
            <a:ext cx="5943600" cy="861045"/>
          </a:xfrm>
          <a:prstGeom prst="rect">
            <a:avLst/>
          </a:prstGeom>
          <a:noFill/>
          <a:ln w="9525">
            <a:noFill/>
            <a:miter lim="800000"/>
            <a:headEnd/>
            <a:tailEnd/>
          </a:ln>
        </p:spPr>
      </p:pic>
      <p:pic>
        <p:nvPicPr>
          <p:cNvPr id="4" name="Picture 3"/>
          <p:cNvPicPr/>
          <p:nvPr/>
        </p:nvPicPr>
        <p:blipFill>
          <a:blip r:embed="rId3"/>
          <a:srcRect/>
          <a:stretch>
            <a:fillRect/>
          </a:stretch>
        </p:blipFill>
        <p:spPr bwMode="auto">
          <a:xfrm>
            <a:off x="990600" y="2286000"/>
            <a:ext cx="7239000" cy="360708"/>
          </a:xfrm>
          <a:prstGeom prst="rect">
            <a:avLst/>
          </a:prstGeom>
          <a:noFill/>
          <a:ln w="9525">
            <a:noFill/>
            <a:miter lim="800000"/>
            <a:headEnd/>
            <a:tailEnd/>
          </a:ln>
        </p:spPr>
      </p:pic>
      <p:pic>
        <p:nvPicPr>
          <p:cNvPr id="31747" name="Picture 61"/>
          <p:cNvPicPr>
            <a:picLocks noChangeAspect="1" noChangeArrowheads="1"/>
          </p:cNvPicPr>
          <p:nvPr/>
        </p:nvPicPr>
        <p:blipFill>
          <a:blip r:embed="rId4"/>
          <a:srcRect/>
          <a:stretch>
            <a:fillRect/>
          </a:stretch>
        </p:blipFill>
        <p:spPr bwMode="auto">
          <a:xfrm>
            <a:off x="1752600" y="3352800"/>
            <a:ext cx="2162175" cy="352425"/>
          </a:xfrm>
          <a:prstGeom prst="rect">
            <a:avLst/>
          </a:prstGeom>
          <a:noFill/>
        </p:spPr>
      </p:pic>
      <p:pic>
        <p:nvPicPr>
          <p:cNvPr id="31746" name="Picture 62"/>
          <p:cNvPicPr>
            <a:picLocks noChangeAspect="1" noChangeArrowheads="1"/>
          </p:cNvPicPr>
          <p:nvPr/>
        </p:nvPicPr>
        <p:blipFill>
          <a:blip r:embed="rId5"/>
          <a:srcRect/>
          <a:stretch>
            <a:fillRect/>
          </a:stretch>
        </p:blipFill>
        <p:spPr bwMode="auto">
          <a:xfrm>
            <a:off x="1828800" y="4343400"/>
            <a:ext cx="1781175" cy="523875"/>
          </a:xfrm>
          <a:prstGeom prst="rect">
            <a:avLst/>
          </a:prstGeom>
          <a:noFill/>
        </p:spPr>
      </p:pic>
      <p:sp>
        <p:nvSpPr>
          <p:cNvPr id="31748" name="Rectangle 4"/>
          <p:cNvSpPr>
            <a:spLocks noChangeArrowheads="1"/>
          </p:cNvSpPr>
          <p:nvPr/>
        </p:nvSpPr>
        <p:spPr bwMode="auto">
          <a:xfrm>
            <a:off x="990600" y="2819400"/>
            <a:ext cx="702436" cy="954107"/>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and</a:t>
            </a:r>
            <a:endParaRPr kumimoji="0" lang="en-US" sz="280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2800" b="0" i="0" u="none" strike="noStrike" cap="none" normalizeH="0" baseline="0" dirty="0" smtClean="0">
              <a:ln>
                <a:noFill/>
              </a:ln>
              <a:solidFill>
                <a:schemeClr val="tx1"/>
              </a:solidFill>
              <a:effectLst/>
              <a:latin typeface="Times New Roman" pitchFamily="18" charset="0"/>
              <a:cs typeface="Times New Roman" pitchFamily="18" charset="0"/>
            </a:endParaRPr>
          </a:p>
        </p:txBody>
      </p:sp>
      <p:sp>
        <p:nvSpPr>
          <p:cNvPr id="31750" name="Rectangle 6"/>
          <p:cNvSpPr>
            <a:spLocks noChangeArrowheads="1"/>
          </p:cNvSpPr>
          <p:nvPr/>
        </p:nvSpPr>
        <p:spPr bwMode="auto">
          <a:xfrm>
            <a:off x="0" y="13335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0" name="Rectangle 9"/>
          <p:cNvSpPr/>
          <p:nvPr/>
        </p:nvSpPr>
        <p:spPr>
          <a:xfrm>
            <a:off x="990600" y="3810000"/>
            <a:ext cx="593432" cy="523220"/>
          </a:xfrm>
          <a:prstGeom prst="rect">
            <a:avLst/>
          </a:prstGeom>
        </p:spPr>
        <p:txBody>
          <a:bodyPr wrap="none">
            <a:spAutoFit/>
          </a:bodyPr>
          <a:lstStyle/>
          <a:p>
            <a:pPr lvl="0" fontAlgn="base">
              <a:spcBef>
                <a:spcPct val="0"/>
              </a:spcBef>
              <a:spcAft>
                <a:spcPct val="0"/>
              </a:spcAft>
            </a:pPr>
            <a:r>
              <a:rPr lang="en-US" sz="2800" dirty="0" smtClean="0">
                <a:latin typeface="Times New Roman" pitchFamily="18" charset="0"/>
                <a:ea typeface="Times New Roman" pitchFamily="18" charset="0"/>
                <a:cs typeface="Times New Roman" pitchFamily="18" charset="0"/>
              </a:rPr>
              <a:t>so,</a:t>
            </a:r>
            <a:endParaRPr lang="en-US" sz="2800" dirty="0" smtClean="0">
              <a:latin typeface="Arial" pitchFamily="34" charset="0"/>
              <a:cs typeface="Arial" pitchFamily="34" charset="0"/>
            </a:endParaRPr>
          </a:p>
        </p:txBody>
      </p:sp>
      <p:pic>
        <p:nvPicPr>
          <p:cNvPr id="11" name="Picture 10"/>
          <p:cNvPicPr/>
          <p:nvPr/>
        </p:nvPicPr>
        <p:blipFill>
          <a:blip r:embed="rId6"/>
          <a:srcRect/>
          <a:stretch>
            <a:fillRect/>
          </a:stretch>
        </p:blipFill>
        <p:spPr bwMode="auto">
          <a:xfrm>
            <a:off x="1143000" y="4953000"/>
            <a:ext cx="2743200" cy="330436"/>
          </a:xfrm>
          <a:prstGeom prst="rect">
            <a:avLst/>
          </a:prstGeom>
          <a:noFill/>
          <a:ln w="9525">
            <a:noFill/>
            <a:miter lim="800000"/>
            <a:headEnd/>
            <a:tailEnd/>
          </a:ln>
        </p:spPr>
      </p:pic>
      <p:pic>
        <p:nvPicPr>
          <p:cNvPr id="12" name="Picture 11"/>
          <p:cNvPicPr/>
          <p:nvPr/>
        </p:nvPicPr>
        <p:blipFill>
          <a:blip r:embed="rId7"/>
          <a:srcRect/>
          <a:stretch>
            <a:fillRect/>
          </a:stretch>
        </p:blipFill>
        <p:spPr bwMode="auto">
          <a:xfrm>
            <a:off x="4038600" y="4724400"/>
            <a:ext cx="3505200" cy="753941"/>
          </a:xfrm>
          <a:prstGeom prst="rect">
            <a:avLst/>
          </a:prstGeom>
          <a:noFill/>
          <a:ln w="9525">
            <a:noFill/>
            <a:miter lim="800000"/>
            <a:headEnd/>
            <a:tailEnd/>
          </a:ln>
        </p:spPr>
      </p:pic>
      <p:sp>
        <p:nvSpPr>
          <p:cNvPr id="31751" name="Rectangle 7"/>
          <p:cNvSpPr>
            <a:spLocks noChangeArrowheads="1"/>
          </p:cNvSpPr>
          <p:nvPr/>
        </p:nvSpPr>
        <p:spPr bwMode="auto">
          <a:xfrm>
            <a:off x="381000" y="5486400"/>
            <a:ext cx="1220206" cy="52322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we get,</a:t>
            </a:r>
            <a:endParaRPr kumimoji="0" lang="en-US" sz="2800" b="0" i="0" u="none" strike="noStrike" cap="none" normalizeH="0" baseline="0" dirty="0" smtClean="0">
              <a:ln>
                <a:noFill/>
              </a:ln>
              <a:solidFill>
                <a:schemeClr val="tx1"/>
              </a:solidFill>
              <a:effectLst/>
              <a:latin typeface="Arial" pitchFamily="34" charset="0"/>
              <a:cs typeface="Arial" pitchFamily="34" charset="0"/>
            </a:endParaRPr>
          </a:p>
        </p:txBody>
      </p:sp>
      <p:pic>
        <p:nvPicPr>
          <p:cNvPr id="14" name="Picture 13"/>
          <p:cNvPicPr/>
          <p:nvPr/>
        </p:nvPicPr>
        <p:blipFill>
          <a:blip r:embed="rId8"/>
          <a:srcRect/>
          <a:stretch>
            <a:fillRect/>
          </a:stretch>
        </p:blipFill>
        <p:spPr bwMode="auto">
          <a:xfrm>
            <a:off x="1828800" y="5715000"/>
            <a:ext cx="4981575" cy="894080"/>
          </a:xfrm>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1"/>
          <p:cNvSpPr>
            <a:spLocks noChangeArrowheads="1"/>
          </p:cNvSpPr>
          <p:nvPr/>
        </p:nvSpPr>
        <p:spPr bwMode="auto">
          <a:xfrm>
            <a:off x="144706" y="238780"/>
            <a:ext cx="8313494" cy="52322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Using the appropriate product rule, expand the integrand</a:t>
            </a:r>
            <a:endParaRPr kumimoji="0" lang="en-US" sz="2800" b="0" i="0" u="none" strike="noStrike" cap="none" normalizeH="0" baseline="0" dirty="0" smtClean="0">
              <a:ln>
                <a:noFill/>
              </a:ln>
              <a:solidFill>
                <a:schemeClr val="tx1"/>
              </a:solidFill>
              <a:effectLst/>
              <a:latin typeface="Arial" pitchFamily="34" charset="0"/>
              <a:cs typeface="Arial" pitchFamily="34" charset="0"/>
            </a:endParaRPr>
          </a:p>
        </p:txBody>
      </p:sp>
      <p:pic>
        <p:nvPicPr>
          <p:cNvPr id="3" name="Picture 2"/>
          <p:cNvPicPr/>
          <p:nvPr/>
        </p:nvPicPr>
        <p:blipFill>
          <a:blip r:embed="rId2"/>
          <a:srcRect/>
          <a:stretch>
            <a:fillRect/>
          </a:stretch>
        </p:blipFill>
        <p:spPr bwMode="auto">
          <a:xfrm>
            <a:off x="685800" y="838200"/>
            <a:ext cx="5670550" cy="873760"/>
          </a:xfrm>
          <a:prstGeom prst="rect">
            <a:avLst/>
          </a:prstGeom>
          <a:noFill/>
          <a:ln w="9525">
            <a:noFill/>
            <a:miter lim="800000"/>
            <a:headEnd/>
            <a:tailEnd/>
          </a:ln>
        </p:spPr>
      </p:pic>
      <p:sp>
        <p:nvSpPr>
          <p:cNvPr id="32770" name="Rectangle 2"/>
          <p:cNvSpPr>
            <a:spLocks noChangeArrowheads="1"/>
          </p:cNvSpPr>
          <p:nvPr/>
        </p:nvSpPr>
        <p:spPr bwMode="auto">
          <a:xfrm>
            <a:off x="228600" y="1828800"/>
            <a:ext cx="8305800" cy="95410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8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Since </a:t>
            </a:r>
            <a:r>
              <a:rPr kumimoji="0" lang="en-US" sz="2800"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J</a:t>
            </a:r>
            <a:r>
              <a:rPr kumimoji="0" lang="en-US" sz="28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 does not depends on x, y, and z, therefore, the second term integrates to zero and  </a:t>
            </a:r>
            <a:endParaRPr kumimoji="0" lang="en-US" sz="2800" b="0" i="0" u="none" strike="noStrike" cap="none" normalizeH="0" baseline="0" dirty="0" smtClean="0">
              <a:ln>
                <a:noFill/>
              </a:ln>
              <a:solidFill>
                <a:schemeClr val="tx1"/>
              </a:solidFill>
              <a:effectLst/>
              <a:latin typeface="Arial" pitchFamily="34" charset="0"/>
              <a:cs typeface="Arial" pitchFamily="34" charset="0"/>
            </a:endParaRPr>
          </a:p>
        </p:txBody>
      </p:sp>
      <p:pic>
        <p:nvPicPr>
          <p:cNvPr id="5" name="Picture 4"/>
          <p:cNvPicPr/>
          <p:nvPr/>
        </p:nvPicPr>
        <p:blipFill>
          <a:blip r:embed="rId3"/>
          <a:srcRect/>
          <a:stretch>
            <a:fillRect/>
          </a:stretch>
        </p:blipFill>
        <p:spPr bwMode="auto">
          <a:xfrm>
            <a:off x="2667000" y="2819400"/>
            <a:ext cx="3036570" cy="839470"/>
          </a:xfrm>
          <a:prstGeom prst="rect">
            <a:avLst/>
          </a:prstGeom>
          <a:noFill/>
          <a:ln w="9525">
            <a:noFill/>
            <a:miter lim="800000"/>
            <a:headEnd/>
            <a:tailEnd/>
          </a:ln>
        </p:spPr>
      </p:pic>
      <p:pic>
        <p:nvPicPr>
          <p:cNvPr id="32772" name="Picture 70"/>
          <p:cNvPicPr>
            <a:picLocks noChangeAspect="1" noChangeArrowheads="1"/>
          </p:cNvPicPr>
          <p:nvPr/>
        </p:nvPicPr>
        <p:blipFill>
          <a:blip r:embed="rId4"/>
          <a:srcRect/>
          <a:stretch>
            <a:fillRect/>
          </a:stretch>
        </p:blipFill>
        <p:spPr bwMode="auto">
          <a:xfrm>
            <a:off x="914400" y="3800162"/>
            <a:ext cx="762000" cy="362263"/>
          </a:xfrm>
          <a:prstGeom prst="rect">
            <a:avLst/>
          </a:prstGeom>
          <a:noFill/>
        </p:spPr>
      </p:pic>
      <p:pic>
        <p:nvPicPr>
          <p:cNvPr id="32771" name="Picture 71"/>
          <p:cNvPicPr>
            <a:picLocks noChangeAspect="1" noChangeArrowheads="1"/>
          </p:cNvPicPr>
          <p:nvPr/>
        </p:nvPicPr>
        <p:blipFill>
          <a:blip r:embed="rId5"/>
          <a:srcRect/>
          <a:stretch>
            <a:fillRect/>
          </a:stretch>
        </p:blipFill>
        <p:spPr bwMode="auto">
          <a:xfrm>
            <a:off x="838200" y="4419600"/>
            <a:ext cx="5943600" cy="781050"/>
          </a:xfrm>
          <a:prstGeom prst="rect">
            <a:avLst/>
          </a:prstGeom>
          <a:noFill/>
        </p:spPr>
      </p:pic>
      <p:sp>
        <p:nvSpPr>
          <p:cNvPr id="32773"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2774" name="Rectangle 6"/>
          <p:cNvSpPr>
            <a:spLocks noChangeArrowheads="1"/>
          </p:cNvSpPr>
          <p:nvPr/>
        </p:nvSpPr>
        <p:spPr bwMode="auto">
          <a:xfrm>
            <a:off x="0" y="7334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32775" name="Rectangle 7"/>
          <p:cNvSpPr>
            <a:spLocks noChangeArrowheads="1"/>
          </p:cNvSpPr>
          <p:nvPr/>
        </p:nvSpPr>
        <p:spPr bwMode="auto">
          <a:xfrm>
            <a:off x="0" y="15144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9" name="Picture 72"/>
          <p:cNvPicPr>
            <a:picLocks noChangeAspect="1" noChangeArrowheads="1"/>
          </p:cNvPicPr>
          <p:nvPr/>
        </p:nvPicPr>
        <p:blipFill>
          <a:blip r:embed="rId2"/>
          <a:srcRect/>
          <a:stretch>
            <a:fillRect/>
          </a:stretch>
        </p:blipFill>
        <p:spPr bwMode="auto">
          <a:xfrm>
            <a:off x="2752725" y="476250"/>
            <a:ext cx="2428875" cy="361950"/>
          </a:xfrm>
          <a:prstGeom prst="rect">
            <a:avLst/>
          </a:prstGeom>
          <a:noFill/>
        </p:spPr>
      </p:pic>
      <p:pic>
        <p:nvPicPr>
          <p:cNvPr id="33798" name="Picture 73"/>
          <p:cNvPicPr>
            <a:picLocks noChangeAspect="1" noChangeArrowheads="1"/>
          </p:cNvPicPr>
          <p:nvPr/>
        </p:nvPicPr>
        <p:blipFill>
          <a:blip r:embed="rId3"/>
          <a:srcRect/>
          <a:stretch>
            <a:fillRect/>
          </a:stretch>
        </p:blipFill>
        <p:spPr bwMode="auto">
          <a:xfrm>
            <a:off x="152400" y="1047750"/>
            <a:ext cx="8915400" cy="1085850"/>
          </a:xfrm>
          <a:prstGeom prst="rect">
            <a:avLst/>
          </a:prstGeom>
          <a:noFill/>
        </p:spPr>
      </p:pic>
      <p:pic>
        <p:nvPicPr>
          <p:cNvPr id="33797" name="Picture 74"/>
          <p:cNvPicPr>
            <a:picLocks noChangeAspect="1" noChangeArrowheads="1"/>
          </p:cNvPicPr>
          <p:nvPr/>
        </p:nvPicPr>
        <p:blipFill>
          <a:blip r:embed="rId4"/>
          <a:srcRect/>
          <a:stretch>
            <a:fillRect/>
          </a:stretch>
        </p:blipFill>
        <p:spPr bwMode="auto">
          <a:xfrm>
            <a:off x="278167" y="2286000"/>
            <a:ext cx="8713433" cy="1438275"/>
          </a:xfrm>
          <a:prstGeom prst="rect">
            <a:avLst/>
          </a:prstGeom>
          <a:noFill/>
        </p:spPr>
      </p:pic>
      <p:pic>
        <p:nvPicPr>
          <p:cNvPr id="33796" name="Picture 75"/>
          <p:cNvPicPr>
            <a:picLocks noChangeAspect="1" noChangeArrowheads="1"/>
          </p:cNvPicPr>
          <p:nvPr/>
        </p:nvPicPr>
        <p:blipFill>
          <a:blip r:embed="rId5"/>
          <a:srcRect/>
          <a:stretch>
            <a:fillRect/>
          </a:stretch>
        </p:blipFill>
        <p:spPr bwMode="auto">
          <a:xfrm>
            <a:off x="381000" y="3886200"/>
            <a:ext cx="8229600" cy="388522"/>
          </a:xfrm>
          <a:prstGeom prst="rect">
            <a:avLst/>
          </a:prstGeom>
          <a:noFill/>
        </p:spPr>
      </p:pic>
      <p:pic>
        <p:nvPicPr>
          <p:cNvPr id="33795" name="Picture 76"/>
          <p:cNvPicPr>
            <a:picLocks noChangeAspect="1" noChangeArrowheads="1"/>
          </p:cNvPicPr>
          <p:nvPr/>
        </p:nvPicPr>
        <p:blipFill>
          <a:blip r:embed="rId6"/>
          <a:srcRect/>
          <a:stretch>
            <a:fillRect/>
          </a:stretch>
        </p:blipFill>
        <p:spPr bwMode="auto">
          <a:xfrm>
            <a:off x="523875" y="4343400"/>
            <a:ext cx="7803696" cy="352425"/>
          </a:xfrm>
          <a:prstGeom prst="rect">
            <a:avLst/>
          </a:prstGeom>
          <a:noFill/>
        </p:spPr>
      </p:pic>
      <p:pic>
        <p:nvPicPr>
          <p:cNvPr id="33794" name="Picture 77"/>
          <p:cNvPicPr>
            <a:picLocks noChangeAspect="1" noChangeArrowheads="1"/>
          </p:cNvPicPr>
          <p:nvPr/>
        </p:nvPicPr>
        <p:blipFill>
          <a:blip r:embed="rId7"/>
          <a:srcRect/>
          <a:stretch>
            <a:fillRect/>
          </a:stretch>
        </p:blipFill>
        <p:spPr bwMode="auto">
          <a:xfrm>
            <a:off x="2514600" y="4876800"/>
            <a:ext cx="3399440" cy="857250"/>
          </a:xfrm>
          <a:prstGeom prst="rect">
            <a:avLst/>
          </a:prstGeom>
          <a:noFill/>
        </p:spPr>
      </p:pic>
      <p:pic>
        <p:nvPicPr>
          <p:cNvPr id="33793" name="Picture 78"/>
          <p:cNvPicPr>
            <a:picLocks noChangeAspect="1" noChangeArrowheads="1"/>
          </p:cNvPicPr>
          <p:nvPr/>
        </p:nvPicPr>
        <p:blipFill>
          <a:blip r:embed="rId8"/>
          <a:srcRect/>
          <a:stretch>
            <a:fillRect/>
          </a:stretch>
        </p:blipFill>
        <p:spPr bwMode="auto">
          <a:xfrm>
            <a:off x="650421" y="5867400"/>
            <a:ext cx="6055179" cy="381000"/>
          </a:xfrm>
          <a:prstGeom prst="rect">
            <a:avLst/>
          </a:prstGeom>
          <a:noFill/>
        </p:spPr>
      </p:pic>
      <p:sp>
        <p:nvSpPr>
          <p:cNvPr id="33800" name="Rectangle 8"/>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3801" name="Rectangle 9"/>
          <p:cNvSpPr>
            <a:spLocks noChangeArrowheads="1"/>
          </p:cNvSpPr>
          <p:nvPr/>
        </p:nvSpPr>
        <p:spPr bwMode="auto">
          <a:xfrm>
            <a:off x="0" y="8191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33802" name="Rectangle 10"/>
          <p:cNvSpPr>
            <a:spLocks noChangeArrowheads="1"/>
          </p:cNvSpPr>
          <p:nvPr/>
        </p:nvSpPr>
        <p:spPr bwMode="auto">
          <a:xfrm>
            <a:off x="0" y="15430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33803" name="Rectangle 11"/>
          <p:cNvSpPr>
            <a:spLocks noChangeArrowheads="1"/>
          </p:cNvSpPr>
          <p:nvPr/>
        </p:nvSpPr>
        <p:spPr bwMode="auto">
          <a:xfrm>
            <a:off x="0" y="25241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33804" name="Rectangle 12"/>
          <p:cNvSpPr>
            <a:spLocks noChangeArrowheads="1"/>
          </p:cNvSpPr>
          <p:nvPr/>
        </p:nvSpPr>
        <p:spPr bwMode="auto">
          <a:xfrm>
            <a:off x="0" y="27336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33805" name="Rectangle 13"/>
          <p:cNvSpPr>
            <a:spLocks noChangeArrowheads="1"/>
          </p:cNvSpPr>
          <p:nvPr/>
        </p:nvSpPr>
        <p:spPr bwMode="auto">
          <a:xfrm>
            <a:off x="0" y="350520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33806" name="Rectangle 14"/>
          <p:cNvSpPr>
            <a:spLocks noChangeArrowheads="1"/>
          </p:cNvSpPr>
          <p:nvPr/>
        </p:nvSpPr>
        <p:spPr bwMode="auto">
          <a:xfrm>
            <a:off x="0" y="39433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33807" name="Rectangle 15"/>
          <p:cNvSpPr>
            <a:spLocks noChangeArrowheads="1"/>
          </p:cNvSpPr>
          <p:nvPr/>
        </p:nvSpPr>
        <p:spPr bwMode="auto">
          <a:xfrm>
            <a:off x="0" y="42100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ChangeArrowheads="1"/>
          </p:cNvSpPr>
          <p:nvPr/>
        </p:nvSpPr>
        <p:spPr bwMode="auto">
          <a:xfrm>
            <a:off x="457200" y="411540"/>
            <a:ext cx="8305800" cy="156966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Prob.:- </a:t>
            </a:r>
            <a:r>
              <a:rPr kumimoji="0" lang="en-US" sz="24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Find the magnetic field at a distance s from a long straight wire (Fig. a), carrying a steady current I .using Ampere's circuital law.</a:t>
            </a:r>
            <a:endParaRPr kumimoji="0" lang="en-US" sz="240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smtClean="0">
              <a:ln>
                <a:noFill/>
              </a:ln>
              <a:solidFill>
                <a:schemeClr val="tx1"/>
              </a:solidFill>
              <a:effectLst/>
              <a:latin typeface="Times New Roman" pitchFamily="18" charset="0"/>
              <a:cs typeface="Times New Roman" pitchFamily="18" charset="0"/>
            </a:endParaRPr>
          </a:p>
        </p:txBody>
      </p:sp>
      <p:pic>
        <p:nvPicPr>
          <p:cNvPr id="34817" name="Picture 80"/>
          <p:cNvPicPr>
            <a:picLocks noChangeAspect="1" noChangeArrowheads="1"/>
          </p:cNvPicPr>
          <p:nvPr/>
        </p:nvPicPr>
        <p:blipFill>
          <a:blip r:embed="rId2"/>
          <a:srcRect/>
          <a:stretch>
            <a:fillRect/>
          </a:stretch>
        </p:blipFill>
        <p:spPr bwMode="auto">
          <a:xfrm>
            <a:off x="381000" y="1676400"/>
            <a:ext cx="8347678" cy="2390775"/>
          </a:xfrm>
          <a:prstGeom prst="rect">
            <a:avLst/>
          </a:prstGeom>
          <a:noFill/>
        </p:spPr>
      </p:pic>
      <p:sp>
        <p:nvSpPr>
          <p:cNvPr id="34819" name="Rectangle 3"/>
          <p:cNvSpPr>
            <a:spLocks noChangeArrowheads="1"/>
          </p:cNvSpPr>
          <p:nvPr/>
        </p:nvSpPr>
        <p:spPr bwMode="auto">
          <a:xfrm>
            <a:off x="0" y="21621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35841" name="Picture 81"/>
          <p:cNvPicPr>
            <a:picLocks noChangeAspect="1" noChangeArrowheads="1"/>
          </p:cNvPicPr>
          <p:nvPr/>
        </p:nvPicPr>
        <p:blipFill>
          <a:blip r:embed="rId2"/>
          <a:srcRect/>
          <a:stretch>
            <a:fillRect/>
          </a:stretch>
        </p:blipFill>
        <p:spPr bwMode="auto">
          <a:xfrm>
            <a:off x="2057400" y="381000"/>
            <a:ext cx="4643105" cy="485775"/>
          </a:xfrm>
          <a:prstGeom prst="rect">
            <a:avLst/>
          </a:prstGeom>
          <a:noFill/>
        </p:spPr>
      </p:pic>
      <p:sp>
        <p:nvSpPr>
          <p:cNvPr id="35843" name="Rectangle 3"/>
          <p:cNvSpPr>
            <a:spLocks noChangeArrowheads="1"/>
          </p:cNvSpPr>
          <p:nvPr/>
        </p:nvSpPr>
        <p:spPr bwMode="auto">
          <a:xfrm>
            <a:off x="0" y="8667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pic>
        <p:nvPicPr>
          <p:cNvPr id="5" name="Picture 4"/>
          <p:cNvPicPr/>
          <p:nvPr/>
        </p:nvPicPr>
        <p:blipFill>
          <a:blip r:embed="rId3"/>
          <a:srcRect/>
          <a:stretch>
            <a:fillRect/>
          </a:stretch>
        </p:blipFill>
        <p:spPr bwMode="auto">
          <a:xfrm>
            <a:off x="304800" y="990600"/>
            <a:ext cx="8458200" cy="2286000"/>
          </a:xfrm>
          <a:prstGeom prst="rect">
            <a:avLst/>
          </a:prstGeom>
          <a:noFill/>
          <a:ln w="9525">
            <a:noFill/>
            <a:miter lim="800000"/>
            <a:headEnd/>
            <a:tailEnd/>
          </a:ln>
        </p:spPr>
      </p:pic>
      <p:pic>
        <p:nvPicPr>
          <p:cNvPr id="6" name="Picture 5"/>
          <p:cNvPicPr/>
          <p:nvPr/>
        </p:nvPicPr>
        <p:blipFill>
          <a:blip r:embed="rId4"/>
          <a:srcRect/>
          <a:stretch>
            <a:fillRect/>
          </a:stretch>
        </p:blipFill>
        <p:spPr bwMode="auto">
          <a:xfrm>
            <a:off x="1371600" y="3276600"/>
            <a:ext cx="6781800" cy="622941"/>
          </a:xfrm>
          <a:prstGeom prst="rect">
            <a:avLst/>
          </a:prstGeom>
          <a:noFill/>
          <a:ln w="9525">
            <a:noFill/>
            <a:miter lim="800000"/>
            <a:headEnd/>
            <a:tailEnd/>
          </a:ln>
        </p:spPr>
      </p:pic>
      <p:sp>
        <p:nvSpPr>
          <p:cNvPr id="35844" name="Rectangle 4"/>
          <p:cNvSpPr>
            <a:spLocks noChangeArrowheads="1"/>
          </p:cNvSpPr>
          <p:nvPr/>
        </p:nvSpPr>
        <p:spPr bwMode="auto">
          <a:xfrm>
            <a:off x="457200" y="4191000"/>
            <a:ext cx="8077200" cy="156966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The definition  </a:t>
            </a:r>
            <a:r>
              <a:rPr kumimoji="0" lang="en-US" sz="2400"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B = curl A </a:t>
            </a:r>
            <a:r>
              <a:rPr kumimoji="0" lang="en-US" sz="24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specifies the curl of A but it does not say anything about divergence so we have liberty to pick that as we see fit, and zero is ordinarily the simplest choice.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	With this condition on </a:t>
            </a:r>
            <a:r>
              <a:rPr kumimoji="0" lang="en-US" sz="2400"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A</a:t>
            </a:r>
            <a:r>
              <a:rPr kumimoji="0" lang="en-US" sz="24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 , Ampere's law becomes</a:t>
            </a:r>
            <a:endParaRPr kumimoji="0" lang="en-US" sz="2400" b="0" i="0" u="none" strike="noStrike" cap="none" normalizeH="0" baseline="0" dirty="0" smtClean="0">
              <a:ln>
                <a:noFill/>
              </a:ln>
              <a:solidFill>
                <a:schemeClr val="tx1"/>
              </a:solidFill>
              <a:effectLst/>
              <a:latin typeface="Times New Roman" pitchFamily="18" charset="0"/>
              <a:cs typeface="Times New Roman" pitchFamily="18" charset="0"/>
            </a:endParaRPr>
          </a:p>
        </p:txBody>
      </p:sp>
      <p:pic>
        <p:nvPicPr>
          <p:cNvPr id="8" name="Picture 7"/>
          <p:cNvPicPr/>
          <p:nvPr/>
        </p:nvPicPr>
        <p:blipFill>
          <a:blip r:embed="rId5"/>
          <a:srcRect/>
          <a:stretch>
            <a:fillRect/>
          </a:stretch>
        </p:blipFill>
        <p:spPr bwMode="auto">
          <a:xfrm>
            <a:off x="2971800" y="5789921"/>
            <a:ext cx="2286000" cy="687079"/>
          </a:xfrm>
          <a:prstGeom prst="rect">
            <a:avLst/>
          </a:prstGeom>
          <a:noFill/>
          <a:ln w="9525">
            <a:noFill/>
            <a:miter lim="800000"/>
            <a:headEnd/>
            <a:tailEnd/>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a:srcRect/>
          <a:stretch>
            <a:fillRect/>
          </a:stretch>
        </p:blipFill>
        <p:spPr bwMode="auto">
          <a:xfrm>
            <a:off x="533400" y="457200"/>
            <a:ext cx="8229600" cy="910105"/>
          </a:xfrm>
          <a:prstGeom prst="rect">
            <a:avLst/>
          </a:prstGeom>
          <a:noFill/>
          <a:ln w="9525">
            <a:noFill/>
            <a:miter lim="800000"/>
            <a:headEnd/>
            <a:tailEnd/>
          </a:ln>
        </p:spPr>
      </p:pic>
      <p:pic>
        <p:nvPicPr>
          <p:cNvPr id="3" name="Picture 2"/>
          <p:cNvPicPr/>
          <p:nvPr/>
        </p:nvPicPr>
        <p:blipFill>
          <a:blip r:embed="rId3"/>
          <a:srcRect/>
          <a:stretch>
            <a:fillRect/>
          </a:stretch>
        </p:blipFill>
        <p:spPr bwMode="auto">
          <a:xfrm>
            <a:off x="2514600" y="1447800"/>
            <a:ext cx="3962400" cy="1132404"/>
          </a:xfrm>
          <a:prstGeom prst="rect">
            <a:avLst/>
          </a:prstGeom>
          <a:noFill/>
          <a:ln w="9525">
            <a:noFill/>
            <a:miter lim="800000"/>
            <a:headEnd/>
            <a:tailEnd/>
          </a:ln>
        </p:spPr>
      </p:pic>
      <p:pic>
        <p:nvPicPr>
          <p:cNvPr id="4" name="Picture 3"/>
          <p:cNvPicPr/>
          <p:nvPr/>
        </p:nvPicPr>
        <p:blipFill>
          <a:blip r:embed="rId4"/>
          <a:srcRect/>
          <a:stretch>
            <a:fillRect/>
          </a:stretch>
        </p:blipFill>
        <p:spPr bwMode="auto">
          <a:xfrm>
            <a:off x="533400" y="2667001"/>
            <a:ext cx="8229600" cy="1295400"/>
          </a:xfrm>
          <a:prstGeom prst="rect">
            <a:avLst/>
          </a:prstGeom>
          <a:noFill/>
          <a:ln w="9525">
            <a:noFill/>
            <a:miter lim="800000"/>
            <a:headEnd/>
            <a:tailEnd/>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36865" name="Picture 107"/>
          <p:cNvPicPr>
            <a:picLocks noChangeAspect="1" noChangeArrowheads="1"/>
          </p:cNvPicPr>
          <p:nvPr/>
        </p:nvPicPr>
        <p:blipFill>
          <a:blip r:embed="rId2"/>
          <a:srcRect/>
          <a:stretch>
            <a:fillRect/>
          </a:stretch>
        </p:blipFill>
        <p:spPr bwMode="auto">
          <a:xfrm>
            <a:off x="1371600" y="381000"/>
            <a:ext cx="7467600" cy="438150"/>
          </a:xfrm>
          <a:prstGeom prst="rect">
            <a:avLst/>
          </a:prstGeom>
          <a:noFill/>
        </p:spPr>
      </p:pic>
      <p:sp>
        <p:nvSpPr>
          <p:cNvPr id="36868" name="Rectangle 4"/>
          <p:cNvSpPr>
            <a:spLocks noChangeArrowheads="1"/>
          </p:cNvSpPr>
          <p:nvPr/>
        </p:nvSpPr>
        <p:spPr bwMode="auto">
          <a:xfrm>
            <a:off x="381000" y="1066800"/>
            <a:ext cx="8229600" cy="304698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All the magnetic phenomena are due to electric charges in motion, i.e. electrons orbiting around nuclei and electrons spinning about their axes. These currents loops are so small that we may treat them as magnetic dipoles. Ordinarily, they cancel each other out because of the random orientation of the atoms. But when magnetic field is applied, a net alignment of these magnetic dipoles occurs, and the medium becomes magnetically polarized, or magnetized. </a:t>
            </a:r>
            <a:endParaRPr kumimoji="0" lang="en-US" sz="2400" b="0" i="0" u="none" strike="noStrike" cap="none" normalizeH="0" baseline="0" dirty="0" smtClean="0">
              <a:ln>
                <a:noFill/>
              </a:ln>
              <a:solidFill>
                <a:schemeClr val="tx1"/>
              </a:solidFill>
              <a:effectLst/>
              <a:latin typeface="Arial" pitchFamily="34" charset="0"/>
              <a:cs typeface="Arial" pitchFamily="34" charset="0"/>
            </a:endParaRPr>
          </a:p>
        </p:txBody>
      </p:sp>
      <p:pic>
        <p:nvPicPr>
          <p:cNvPr id="6" name="Picture 5"/>
          <p:cNvPicPr/>
          <p:nvPr/>
        </p:nvPicPr>
        <p:blipFill>
          <a:blip r:embed="rId3"/>
          <a:srcRect/>
          <a:stretch>
            <a:fillRect/>
          </a:stretch>
        </p:blipFill>
        <p:spPr bwMode="auto">
          <a:xfrm>
            <a:off x="457200" y="4267200"/>
            <a:ext cx="7620000" cy="475676"/>
          </a:xfrm>
          <a:prstGeom prst="rect">
            <a:avLst/>
          </a:prstGeom>
          <a:noFill/>
          <a:ln w="9525">
            <a:noFill/>
            <a:miter lim="800000"/>
            <a:headEnd/>
            <a:tailEnd/>
          </a:ln>
        </p:spPr>
      </p:pic>
      <p:pic>
        <p:nvPicPr>
          <p:cNvPr id="7" name="Picture 6"/>
          <p:cNvPicPr/>
          <p:nvPr/>
        </p:nvPicPr>
        <p:blipFill>
          <a:blip r:embed="rId4"/>
          <a:srcRect/>
          <a:stretch>
            <a:fillRect/>
          </a:stretch>
        </p:blipFill>
        <p:spPr bwMode="auto">
          <a:xfrm>
            <a:off x="2590800" y="4724400"/>
            <a:ext cx="2122170" cy="628015"/>
          </a:xfrm>
          <a:prstGeom prst="rect">
            <a:avLst/>
          </a:prstGeom>
          <a:noFill/>
          <a:ln w="9525">
            <a:noFill/>
            <a:miter lim="800000"/>
            <a:headEnd/>
            <a:tailEnd/>
          </a:ln>
        </p:spPr>
      </p:pic>
      <p:pic>
        <p:nvPicPr>
          <p:cNvPr id="8" name="Picture 7"/>
          <p:cNvPicPr/>
          <p:nvPr/>
        </p:nvPicPr>
        <p:blipFill>
          <a:blip r:embed="rId5"/>
          <a:srcRect/>
          <a:stretch>
            <a:fillRect/>
          </a:stretch>
        </p:blipFill>
        <p:spPr bwMode="auto">
          <a:xfrm>
            <a:off x="685800" y="5486400"/>
            <a:ext cx="6934200" cy="381000"/>
          </a:xfrm>
          <a:prstGeom prst="rect">
            <a:avLst/>
          </a:prstGeom>
          <a:noFill/>
          <a:ln w="9525">
            <a:noFill/>
            <a:miter lim="800000"/>
            <a:headEnd/>
            <a:tailEnd/>
          </a:ln>
        </p:spPr>
      </p:pic>
      <p:sp>
        <p:nvSpPr>
          <p:cNvPr id="36869" name="Rectangle 5"/>
          <p:cNvSpPr>
            <a:spLocks noChangeArrowheads="1"/>
          </p:cNvSpPr>
          <p:nvPr/>
        </p:nvSpPr>
        <p:spPr bwMode="auto">
          <a:xfrm>
            <a:off x="381000" y="5867400"/>
            <a:ext cx="8382000" cy="83099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40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This equation gives the exact torque on any localized current distribution, in the presence of a uniform field. In a non-uniform</a:t>
            </a:r>
            <a:endParaRPr kumimoji="0" lang="en-US" sz="2400" i="0" u="none" strike="noStrike" cap="none" normalizeH="0" baseline="0" dirty="0" smtClean="0">
              <a:ln>
                <a:noFill/>
              </a:ln>
              <a:solidFill>
                <a:schemeClr val="tx1"/>
              </a:solidFill>
              <a:effectLst/>
              <a:latin typeface="Arial" pitchFamily="34" charset="0"/>
              <a:cs typeface="Arial"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33400" y="304800"/>
            <a:ext cx="8077200" cy="830997"/>
          </a:xfrm>
          <a:prstGeom prst="rect">
            <a:avLst/>
          </a:prstGeom>
        </p:spPr>
        <p:txBody>
          <a:bodyPr wrap="square">
            <a:spAutoFit/>
          </a:bodyPr>
          <a:lstStyle/>
          <a:p>
            <a:pPr lvl="0" algn="just" fontAlgn="base">
              <a:spcBef>
                <a:spcPct val="0"/>
              </a:spcBef>
              <a:spcAft>
                <a:spcPct val="0"/>
              </a:spcAft>
            </a:pPr>
            <a:r>
              <a:rPr lang="en-US" sz="2400" dirty="0" smtClean="0">
                <a:latin typeface="Times New Roman" pitchFamily="18" charset="0"/>
                <a:ea typeface="Times New Roman" pitchFamily="18" charset="0"/>
                <a:cs typeface="Times New Roman" pitchFamily="18" charset="0"/>
              </a:rPr>
              <a:t>field it is the exact torque (about the center) for a perfect dipole of infinitesimal size.</a:t>
            </a:r>
            <a:endParaRPr lang="en-US" sz="2400" dirty="0" smtClean="0">
              <a:latin typeface="Arial" pitchFamily="34" charset="0"/>
              <a:cs typeface="Arial" pitchFamily="34" charset="0"/>
            </a:endParaRPr>
          </a:p>
        </p:txBody>
      </p:sp>
      <p:pic>
        <p:nvPicPr>
          <p:cNvPr id="3" name="Picture 2"/>
          <p:cNvPicPr/>
          <p:nvPr/>
        </p:nvPicPr>
        <p:blipFill>
          <a:blip r:embed="rId3"/>
          <a:srcRect/>
          <a:stretch>
            <a:fillRect/>
          </a:stretch>
        </p:blipFill>
        <p:spPr bwMode="auto">
          <a:xfrm>
            <a:off x="304800" y="1295400"/>
            <a:ext cx="8305800" cy="1447800"/>
          </a:xfrm>
          <a:prstGeom prst="rect">
            <a:avLst/>
          </a:prstGeom>
          <a:noFill/>
          <a:ln w="9525">
            <a:noFill/>
            <a:miter lim="800000"/>
            <a:headEnd/>
            <a:tailEnd/>
          </a:ln>
        </p:spPr>
      </p:pic>
      <p:sp>
        <p:nvSpPr>
          <p:cNvPr id="38914" name="Rectangle 2"/>
          <p:cNvSpPr>
            <a:spLocks noChangeArrowheads="1"/>
          </p:cNvSpPr>
          <p:nvPr/>
        </p:nvSpPr>
        <p:spPr bwMode="auto">
          <a:xfrm>
            <a:off x="304800" y="2743200"/>
            <a:ext cx="3836307" cy="461665"/>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because the net displacement </a:t>
            </a:r>
            <a:endParaRPr kumimoji="0" lang="en-US" sz="2400" b="0" i="0" u="none" strike="noStrike" cap="none" normalizeH="0" baseline="0" dirty="0" smtClean="0">
              <a:ln>
                <a:noFill/>
              </a:ln>
              <a:solidFill>
                <a:schemeClr val="tx1"/>
              </a:solidFill>
              <a:effectLst/>
              <a:latin typeface="Arial" pitchFamily="34" charset="0"/>
              <a:cs typeface="Arial" pitchFamily="34" charset="0"/>
            </a:endParaRPr>
          </a:p>
        </p:txBody>
      </p:sp>
      <p:pic>
        <p:nvPicPr>
          <p:cNvPr id="38913" name="Picture 115"/>
          <p:cNvPicPr>
            <a:picLocks noChangeAspect="1" noChangeArrowheads="1"/>
          </p:cNvPicPr>
          <p:nvPr/>
        </p:nvPicPr>
        <p:blipFill>
          <a:blip r:embed="rId4"/>
          <a:srcRect/>
          <a:stretch>
            <a:fillRect/>
          </a:stretch>
        </p:blipFill>
        <p:spPr bwMode="auto">
          <a:xfrm>
            <a:off x="4038600" y="2787445"/>
            <a:ext cx="609600" cy="412955"/>
          </a:xfrm>
          <a:prstGeom prst="rect">
            <a:avLst/>
          </a:prstGeom>
          <a:noFill/>
        </p:spPr>
      </p:pic>
      <p:sp>
        <p:nvSpPr>
          <p:cNvPr id="38916" name="Rectangle 4"/>
          <p:cNvSpPr>
            <a:spLocks noChangeArrowheads="1"/>
          </p:cNvSpPr>
          <p:nvPr/>
        </p:nvSpPr>
        <p:spPr bwMode="auto">
          <a:xfrm>
            <a:off x="4724400" y="2738735"/>
            <a:ext cx="4800600" cy="46166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around a closed loop vanishes.</a:t>
            </a:r>
            <a:endParaRPr kumimoji="0" lang="en-US" sz="2400" b="0" i="0" u="none" strike="noStrike" cap="none" normalizeH="0" baseline="0" smtClean="0">
              <a:ln>
                <a:noFill/>
              </a:ln>
              <a:solidFill>
                <a:schemeClr val="tx1"/>
              </a:solidFill>
              <a:effectLst/>
              <a:latin typeface="Arial" pitchFamily="34" charset="0"/>
              <a:cs typeface="Arial" pitchFamily="34" charset="0"/>
            </a:endParaRPr>
          </a:p>
        </p:txBody>
      </p:sp>
      <p:pic>
        <p:nvPicPr>
          <p:cNvPr id="8" name="Picture 7"/>
          <p:cNvPicPr/>
          <p:nvPr/>
        </p:nvPicPr>
        <p:blipFill>
          <a:blip r:embed="rId5"/>
          <a:srcRect/>
          <a:stretch>
            <a:fillRect/>
          </a:stretch>
        </p:blipFill>
        <p:spPr bwMode="auto">
          <a:xfrm>
            <a:off x="685800" y="3276600"/>
            <a:ext cx="7924800" cy="1524000"/>
          </a:xfrm>
          <a:prstGeom prst="rect">
            <a:avLst/>
          </a:prstGeom>
          <a:noFill/>
          <a:ln w="9525">
            <a:noFill/>
            <a:miter lim="800000"/>
            <a:headEnd/>
            <a:tailEnd/>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a:srcRect/>
          <a:stretch>
            <a:fillRect/>
          </a:stretch>
        </p:blipFill>
        <p:spPr bwMode="auto">
          <a:xfrm>
            <a:off x="304800" y="1447800"/>
            <a:ext cx="8610600" cy="2209800"/>
          </a:xfrm>
          <a:prstGeom prst="rect">
            <a:avLst/>
          </a:prstGeom>
          <a:noFill/>
          <a:ln w="9525">
            <a:noFill/>
            <a:miter lim="800000"/>
            <a:headEnd/>
            <a:tailEnd/>
          </a:ln>
        </p:spPr>
      </p:pic>
      <p:pic>
        <p:nvPicPr>
          <p:cNvPr id="3" name="Picture 2"/>
          <p:cNvPicPr/>
          <p:nvPr/>
        </p:nvPicPr>
        <p:blipFill>
          <a:blip r:embed="rId3"/>
          <a:srcRect/>
          <a:stretch>
            <a:fillRect/>
          </a:stretch>
        </p:blipFill>
        <p:spPr bwMode="auto">
          <a:xfrm>
            <a:off x="3048000" y="533400"/>
            <a:ext cx="7162800" cy="685800"/>
          </a:xfrm>
          <a:prstGeom prst="rect">
            <a:avLst/>
          </a:prstGeom>
          <a:noFill/>
          <a:ln w="9525">
            <a:noFill/>
            <a:miter lim="800000"/>
            <a:headEnd/>
            <a:tailEnd/>
          </a:ln>
        </p:spPr>
      </p:pic>
      <p:pic>
        <p:nvPicPr>
          <p:cNvPr id="4" name="Picture 3"/>
          <p:cNvPicPr/>
          <p:nvPr/>
        </p:nvPicPr>
        <p:blipFill>
          <a:blip r:embed="rId4"/>
          <a:srcRect/>
          <a:stretch>
            <a:fillRect/>
          </a:stretch>
        </p:blipFill>
        <p:spPr bwMode="auto">
          <a:xfrm>
            <a:off x="1143000" y="3687065"/>
            <a:ext cx="7010400" cy="656335"/>
          </a:xfrm>
          <a:prstGeom prst="rect">
            <a:avLst/>
          </a:prstGeom>
          <a:noFill/>
          <a:ln w="9525">
            <a:noFill/>
            <a:miter lim="800000"/>
            <a:headEnd/>
            <a:tailEnd/>
          </a:ln>
        </p:spPr>
      </p:pic>
      <p:pic>
        <p:nvPicPr>
          <p:cNvPr id="5" name="Picture 4"/>
          <p:cNvPicPr/>
          <p:nvPr/>
        </p:nvPicPr>
        <p:blipFill>
          <a:blip r:embed="rId5"/>
          <a:srcRect/>
          <a:stretch>
            <a:fillRect/>
          </a:stretch>
        </p:blipFill>
        <p:spPr bwMode="auto">
          <a:xfrm>
            <a:off x="1143000" y="4419600"/>
            <a:ext cx="7086600" cy="381000"/>
          </a:xfrm>
          <a:prstGeom prst="rect">
            <a:avLst/>
          </a:prstGeom>
          <a:noFill/>
          <a:ln w="9525">
            <a:noFill/>
            <a:miter lim="800000"/>
            <a:headEnd/>
            <a:tailEnd/>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pic>
        <p:nvPicPr>
          <p:cNvPr id="39937" name="Picture 89"/>
          <p:cNvPicPr>
            <a:picLocks noChangeAspect="1" noChangeArrowheads="1"/>
          </p:cNvPicPr>
          <p:nvPr/>
        </p:nvPicPr>
        <p:blipFill>
          <a:blip r:embed="rId2"/>
          <a:srcRect/>
          <a:stretch>
            <a:fillRect/>
          </a:stretch>
        </p:blipFill>
        <p:spPr bwMode="auto">
          <a:xfrm>
            <a:off x="1295400" y="257175"/>
            <a:ext cx="6822236" cy="733425"/>
          </a:xfrm>
          <a:prstGeom prst="rect">
            <a:avLst/>
          </a:prstGeom>
          <a:noFill/>
        </p:spPr>
      </p:pic>
      <p:sp>
        <p:nvSpPr>
          <p:cNvPr id="39939" name="Rectangle 3"/>
          <p:cNvSpPr>
            <a:spLocks noChangeArrowheads="1"/>
          </p:cNvSpPr>
          <p:nvPr/>
        </p:nvSpPr>
        <p:spPr bwMode="auto">
          <a:xfrm>
            <a:off x="228600" y="1066800"/>
            <a:ext cx="5245347" cy="461665"/>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any event, total current can be written as </a:t>
            </a:r>
            <a:endParaRPr kumimoji="0" lang="en-US" sz="2400" b="0" i="0" u="none" strike="noStrike" cap="none" normalizeH="0" baseline="0" smtClean="0">
              <a:ln>
                <a:noFill/>
              </a:ln>
              <a:solidFill>
                <a:schemeClr val="tx1"/>
              </a:solidFill>
              <a:effectLst/>
              <a:latin typeface="Arial" pitchFamily="34" charset="0"/>
              <a:cs typeface="Arial" pitchFamily="34" charset="0"/>
            </a:endParaRPr>
          </a:p>
        </p:txBody>
      </p:sp>
      <p:pic>
        <p:nvPicPr>
          <p:cNvPr id="5" name="Picture 4"/>
          <p:cNvPicPr/>
          <p:nvPr/>
        </p:nvPicPr>
        <p:blipFill>
          <a:blip r:embed="rId3"/>
          <a:srcRect/>
          <a:stretch>
            <a:fillRect/>
          </a:stretch>
        </p:blipFill>
        <p:spPr bwMode="auto">
          <a:xfrm>
            <a:off x="2057400" y="1752600"/>
            <a:ext cx="2819400" cy="558878"/>
          </a:xfrm>
          <a:prstGeom prst="rect">
            <a:avLst/>
          </a:prstGeom>
          <a:noFill/>
          <a:ln w="9525">
            <a:noFill/>
            <a:miter lim="800000"/>
            <a:headEnd/>
            <a:tailEnd/>
          </a:ln>
        </p:spPr>
      </p:pic>
      <p:sp>
        <p:nvSpPr>
          <p:cNvPr id="39940" name="Rectangle 4"/>
          <p:cNvSpPr>
            <a:spLocks noChangeArrowheads="1"/>
          </p:cNvSpPr>
          <p:nvPr/>
        </p:nvSpPr>
        <p:spPr bwMode="auto">
          <a:xfrm>
            <a:off x="152400" y="2514600"/>
            <a:ext cx="8458200" cy="156966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where </a:t>
            </a:r>
            <a:r>
              <a:rPr kumimoji="0" lang="en-US" sz="2400" b="1" i="0" u="none" strike="noStrike" cap="none" normalizeH="0" baseline="0" dirty="0" err="1" smtClean="0">
                <a:ln>
                  <a:noFill/>
                </a:ln>
                <a:solidFill>
                  <a:schemeClr val="tx1"/>
                </a:solidFill>
                <a:effectLst/>
                <a:latin typeface="Times New Roman" pitchFamily="18" charset="0"/>
                <a:ea typeface="Times New Roman" pitchFamily="18" charset="0"/>
                <a:cs typeface="Times New Roman" pitchFamily="18" charset="0"/>
              </a:rPr>
              <a:t>J</a:t>
            </a:r>
            <a:r>
              <a:rPr kumimoji="0" lang="en-US" sz="2400" b="1" i="0" u="none" strike="noStrike" cap="none" normalizeH="0" baseline="-25000" dirty="0" err="1" smtClean="0">
                <a:ln>
                  <a:noFill/>
                </a:ln>
                <a:solidFill>
                  <a:schemeClr val="tx1"/>
                </a:solidFill>
                <a:effectLst/>
                <a:latin typeface="Times New Roman" pitchFamily="18" charset="0"/>
                <a:ea typeface="Times New Roman" pitchFamily="18" charset="0"/>
                <a:cs typeface="Times New Roman" pitchFamily="18" charset="0"/>
              </a:rPr>
              <a:t>f</a:t>
            </a:r>
            <a:r>
              <a:rPr kumimoji="0" lang="en-US" sz="24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 is free current because of actual transport of charge while </a:t>
            </a:r>
            <a:r>
              <a:rPr kumimoji="0" lang="en-US" sz="2400" b="1" i="0" u="none" strike="noStrike" cap="none" normalizeH="0" baseline="0" dirty="0" err="1" smtClean="0">
                <a:ln>
                  <a:noFill/>
                </a:ln>
                <a:solidFill>
                  <a:schemeClr val="tx1"/>
                </a:solidFill>
                <a:effectLst/>
                <a:latin typeface="Times New Roman" pitchFamily="18" charset="0"/>
                <a:ea typeface="Times New Roman" pitchFamily="18" charset="0"/>
                <a:cs typeface="Times New Roman" pitchFamily="18" charset="0"/>
              </a:rPr>
              <a:t>J</a:t>
            </a:r>
            <a:r>
              <a:rPr kumimoji="0" lang="en-US" sz="2400" b="1" i="0" u="none" strike="noStrike" cap="none" normalizeH="0" baseline="-25000" dirty="0" err="1" smtClean="0">
                <a:ln>
                  <a:noFill/>
                </a:ln>
                <a:solidFill>
                  <a:schemeClr val="tx1"/>
                </a:solidFill>
                <a:effectLst/>
                <a:latin typeface="Times New Roman" pitchFamily="18" charset="0"/>
                <a:ea typeface="Times New Roman" pitchFamily="18" charset="0"/>
                <a:cs typeface="Times New Roman" pitchFamily="18" charset="0"/>
              </a:rPr>
              <a:t>b</a:t>
            </a:r>
            <a:r>
              <a:rPr kumimoji="0" lang="en-US" sz="2400"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 </a:t>
            </a:r>
            <a:r>
              <a:rPr kumimoji="0" lang="en-US" sz="24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is bound current due to magnetization.</a:t>
            </a:r>
            <a:endParaRPr kumimoji="0" lang="en-US" sz="2400" b="0"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lang="en-US" sz="2400" dirty="0" smtClean="0">
                <a:latin typeface="Times New Roman" pitchFamily="18" charset="0"/>
                <a:ea typeface="Times New Roman" pitchFamily="18" charset="0"/>
                <a:cs typeface="Times New Roman" pitchFamily="18" charset="0"/>
              </a:rPr>
              <a:t>	</a:t>
            </a:r>
            <a:r>
              <a:rPr kumimoji="0" lang="en-US" sz="24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So Ampere's law can be written as </a:t>
            </a:r>
            <a:endParaRPr kumimoji="0" lang="en-US" sz="2400" b="0" i="0" u="none" strike="noStrike" cap="none" normalizeH="0" baseline="0" dirty="0" smtClean="0">
              <a:ln>
                <a:noFill/>
              </a:ln>
              <a:solidFill>
                <a:schemeClr val="tx1"/>
              </a:solidFill>
              <a:effectLst/>
              <a:latin typeface="Times New Roman" pitchFamily="18" charset="0"/>
              <a:cs typeface="Times New Roman" pitchFamily="18" charset="0"/>
            </a:endParaRPr>
          </a:p>
        </p:txBody>
      </p:sp>
      <p:pic>
        <p:nvPicPr>
          <p:cNvPr id="7" name="Picture 6"/>
          <p:cNvPicPr/>
          <p:nvPr/>
        </p:nvPicPr>
        <p:blipFill>
          <a:blip r:embed="rId4"/>
          <a:srcRect/>
          <a:stretch>
            <a:fillRect/>
          </a:stretch>
        </p:blipFill>
        <p:spPr bwMode="auto">
          <a:xfrm>
            <a:off x="1600200" y="4079240"/>
            <a:ext cx="6248400" cy="1026160"/>
          </a:xfrm>
          <a:prstGeom prst="rect">
            <a:avLst/>
          </a:prstGeom>
          <a:noFill/>
          <a:ln w="9525">
            <a:noFill/>
            <a:miter lim="800000"/>
            <a:headEnd/>
            <a:tailEnd/>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a:srcRect/>
          <a:stretch>
            <a:fillRect/>
          </a:stretch>
        </p:blipFill>
        <p:spPr bwMode="auto">
          <a:xfrm>
            <a:off x="304800" y="304800"/>
            <a:ext cx="8305800" cy="2667000"/>
          </a:xfrm>
          <a:prstGeom prst="rect">
            <a:avLst/>
          </a:prstGeom>
          <a:noFill/>
          <a:ln w="9525">
            <a:noFill/>
            <a:miter lim="800000"/>
            <a:headEnd/>
            <a:tailEnd/>
          </a:ln>
        </p:spPr>
      </p:pic>
      <p:sp>
        <p:nvSpPr>
          <p:cNvPr id="43010"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43009" name="Picture 93"/>
          <p:cNvPicPr>
            <a:picLocks noChangeAspect="1" noChangeArrowheads="1"/>
          </p:cNvPicPr>
          <p:nvPr/>
        </p:nvPicPr>
        <p:blipFill>
          <a:blip r:embed="rId3"/>
          <a:srcRect/>
          <a:stretch>
            <a:fillRect/>
          </a:stretch>
        </p:blipFill>
        <p:spPr bwMode="auto">
          <a:xfrm>
            <a:off x="381000" y="3333305"/>
            <a:ext cx="8382000" cy="2482523"/>
          </a:xfrm>
          <a:prstGeom prst="rect">
            <a:avLst/>
          </a:prstGeom>
          <a:noFill/>
        </p:spPr>
      </p:pic>
      <p:sp>
        <p:nvSpPr>
          <p:cNvPr id="43011" name="Rectangle 3"/>
          <p:cNvSpPr>
            <a:spLocks noChangeArrowheads="1"/>
          </p:cNvSpPr>
          <p:nvPr/>
        </p:nvSpPr>
        <p:spPr bwMode="auto">
          <a:xfrm>
            <a:off x="0" y="21526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smtClean="0">
                <a:ln>
                  <a:noFill/>
                </a:ln>
                <a:solidFill>
                  <a:schemeClr val="tx1"/>
                </a:solidFill>
                <a:effectLst/>
                <a:latin typeface="Times New Roman" pitchFamily="18" charset="0"/>
                <a:ea typeface="Times New Roman" pitchFamily="18" charset="0"/>
                <a:cs typeface="Times New Roman" pitchFamily="18"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a:srcRect/>
          <a:stretch>
            <a:fillRect/>
          </a:stretch>
        </p:blipFill>
        <p:spPr bwMode="auto">
          <a:xfrm>
            <a:off x="2057400" y="381000"/>
            <a:ext cx="8001000" cy="685800"/>
          </a:xfrm>
          <a:prstGeom prst="rect">
            <a:avLst/>
          </a:prstGeom>
          <a:noFill/>
          <a:ln w="9525">
            <a:noFill/>
            <a:miter lim="800000"/>
            <a:headEnd/>
            <a:tailEnd/>
          </a:ln>
        </p:spPr>
      </p:pic>
      <p:pic>
        <p:nvPicPr>
          <p:cNvPr id="3" name="Picture 2"/>
          <p:cNvPicPr/>
          <p:nvPr/>
        </p:nvPicPr>
        <p:blipFill>
          <a:blip r:embed="rId3"/>
          <a:srcRect/>
          <a:stretch>
            <a:fillRect/>
          </a:stretch>
        </p:blipFill>
        <p:spPr bwMode="auto">
          <a:xfrm>
            <a:off x="381000" y="1066800"/>
            <a:ext cx="7620000" cy="533400"/>
          </a:xfrm>
          <a:prstGeom prst="rect">
            <a:avLst/>
          </a:prstGeom>
          <a:noFill/>
          <a:ln w="9525">
            <a:noFill/>
            <a:miter lim="800000"/>
            <a:headEnd/>
            <a:tailEnd/>
          </a:ln>
        </p:spPr>
      </p:pic>
      <p:sp>
        <p:nvSpPr>
          <p:cNvPr id="44033" name="Rectangle 1"/>
          <p:cNvSpPr>
            <a:spLocks noChangeArrowheads="1"/>
          </p:cNvSpPr>
          <p:nvPr/>
        </p:nvSpPr>
        <p:spPr bwMode="auto">
          <a:xfrm>
            <a:off x="533400" y="1752600"/>
            <a:ext cx="8153400" cy="156966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In paramagnetic and diamagnetic materials, the magnetization is sustained by the field, when </a:t>
            </a:r>
            <a:r>
              <a:rPr kumimoji="0" lang="en-US" sz="2400"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B </a:t>
            </a:r>
            <a:r>
              <a:rPr kumimoji="0" lang="en-US" sz="24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is removed, </a:t>
            </a:r>
            <a:r>
              <a:rPr kumimoji="0" lang="en-US" sz="2400"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M</a:t>
            </a:r>
            <a:r>
              <a:rPr kumimoji="0" lang="en-US" sz="24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 disappears. In fact, for most substances the magnetization is proportional to the field, provided the field is not too strong. Thus</a:t>
            </a:r>
            <a:endParaRPr kumimoji="0" lang="en-US" sz="2400" b="0" i="0" u="none" strike="noStrike" cap="none" normalizeH="0" baseline="0" dirty="0" smtClean="0">
              <a:ln>
                <a:noFill/>
              </a:ln>
              <a:solidFill>
                <a:schemeClr val="tx1"/>
              </a:solidFill>
              <a:effectLst/>
              <a:latin typeface="Arial" pitchFamily="34" charset="0"/>
              <a:cs typeface="Arial" pitchFamily="34" charset="0"/>
            </a:endParaRPr>
          </a:p>
        </p:txBody>
      </p:sp>
      <p:pic>
        <p:nvPicPr>
          <p:cNvPr id="5" name="Picture 4"/>
          <p:cNvPicPr/>
          <p:nvPr/>
        </p:nvPicPr>
        <p:blipFill>
          <a:blip r:embed="rId4"/>
          <a:srcRect/>
          <a:stretch>
            <a:fillRect/>
          </a:stretch>
        </p:blipFill>
        <p:spPr bwMode="auto">
          <a:xfrm>
            <a:off x="609600" y="3352800"/>
            <a:ext cx="7772400" cy="914400"/>
          </a:xfrm>
          <a:prstGeom prst="rect">
            <a:avLst/>
          </a:prstGeom>
          <a:noFill/>
          <a:ln w="9525">
            <a:noFill/>
            <a:miter lim="800000"/>
            <a:headEnd/>
            <a:tailEnd/>
          </a:ln>
        </p:spPr>
      </p:pic>
      <p:sp>
        <p:nvSpPr>
          <p:cNvPr id="44035" name="Rectangle 3"/>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44034" name="Picture 99"/>
          <p:cNvPicPr>
            <a:picLocks noChangeAspect="1" noChangeArrowheads="1"/>
          </p:cNvPicPr>
          <p:nvPr/>
        </p:nvPicPr>
        <p:blipFill>
          <a:blip r:embed="rId5"/>
          <a:srcRect/>
          <a:stretch>
            <a:fillRect/>
          </a:stretch>
        </p:blipFill>
        <p:spPr bwMode="auto">
          <a:xfrm>
            <a:off x="609608" y="4419600"/>
            <a:ext cx="8534392" cy="1066799"/>
          </a:xfrm>
          <a:prstGeom prst="rect">
            <a:avLst/>
          </a:prstGeom>
          <a:noFill/>
        </p:spPr>
      </p:pic>
      <p:sp>
        <p:nvSpPr>
          <p:cNvPr id="44036" name="Rectangle 4"/>
          <p:cNvSpPr>
            <a:spLocks noChangeArrowheads="1"/>
          </p:cNvSpPr>
          <p:nvPr/>
        </p:nvSpPr>
        <p:spPr bwMode="auto">
          <a:xfrm>
            <a:off x="0" y="120015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44038" name="Rectangle 6"/>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44037" name="Picture 100"/>
          <p:cNvPicPr>
            <a:picLocks noChangeAspect="1" noChangeArrowheads="1"/>
          </p:cNvPicPr>
          <p:nvPr/>
        </p:nvPicPr>
        <p:blipFill>
          <a:blip r:embed="rId6"/>
          <a:srcRect/>
          <a:stretch>
            <a:fillRect/>
          </a:stretch>
        </p:blipFill>
        <p:spPr bwMode="auto">
          <a:xfrm>
            <a:off x="152400" y="5562600"/>
            <a:ext cx="8915400" cy="914400"/>
          </a:xfrm>
          <a:prstGeom prst="rect">
            <a:avLst/>
          </a:prstGeom>
          <a:noFill/>
        </p:spPr>
      </p:pic>
      <p:sp>
        <p:nvSpPr>
          <p:cNvPr id="44039" name="Rectangle 7"/>
          <p:cNvSpPr>
            <a:spLocks noChangeArrowheads="1"/>
          </p:cNvSpPr>
          <p:nvPr/>
        </p:nvSpPr>
        <p:spPr bwMode="auto">
          <a:xfrm>
            <a:off x="0" y="106680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3"/>
          <a:srcRect/>
          <a:stretch>
            <a:fillRect/>
          </a:stretch>
        </p:blipFill>
        <p:spPr bwMode="auto">
          <a:xfrm>
            <a:off x="533400" y="76200"/>
            <a:ext cx="8153400" cy="2773865"/>
          </a:xfrm>
          <a:prstGeom prst="rect">
            <a:avLst/>
          </a:prstGeom>
          <a:noFill/>
          <a:ln w="9525">
            <a:noFill/>
            <a:miter lim="800000"/>
            <a:headEnd/>
            <a:tailEnd/>
          </a:ln>
        </p:spPr>
      </p:pic>
      <p:pic>
        <p:nvPicPr>
          <p:cNvPr id="3" name="Picture 2"/>
          <p:cNvPicPr/>
          <p:nvPr/>
        </p:nvPicPr>
        <p:blipFill>
          <a:blip r:embed="rId4"/>
          <a:srcRect/>
          <a:stretch>
            <a:fillRect/>
          </a:stretch>
        </p:blipFill>
        <p:spPr bwMode="auto">
          <a:xfrm>
            <a:off x="1524000" y="2819400"/>
            <a:ext cx="6281383" cy="830277"/>
          </a:xfrm>
          <a:prstGeom prst="rect">
            <a:avLst/>
          </a:prstGeom>
          <a:noFill/>
          <a:ln w="9525">
            <a:noFill/>
            <a:miter lim="800000"/>
            <a:headEnd/>
            <a:tailEnd/>
          </a:ln>
        </p:spPr>
      </p:pic>
      <p:sp>
        <p:nvSpPr>
          <p:cNvPr id="45058" name="Rectangle 2"/>
          <p:cNvSpPr>
            <a:spLocks noChangeArrowheads="1"/>
          </p:cNvSpPr>
          <p:nvPr/>
        </p:nvSpPr>
        <p:spPr bwMode="auto">
          <a:xfrm>
            <a:off x="381000" y="3733800"/>
            <a:ext cx="4100803" cy="461665"/>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Materials that obey the relation </a:t>
            </a:r>
            <a:endParaRPr kumimoji="0" lang="en-US" sz="2400" b="0" i="0" u="none" strike="noStrike" cap="none" normalizeH="0" baseline="0" dirty="0" smtClean="0">
              <a:ln>
                <a:noFill/>
              </a:ln>
              <a:solidFill>
                <a:schemeClr val="tx1"/>
              </a:solidFill>
              <a:effectLst/>
              <a:latin typeface="Arial" pitchFamily="34" charset="0"/>
              <a:cs typeface="Arial" pitchFamily="34" charset="0"/>
            </a:endParaRPr>
          </a:p>
        </p:txBody>
      </p:sp>
      <p:pic>
        <p:nvPicPr>
          <p:cNvPr id="45057" name="Picture 104"/>
          <p:cNvPicPr>
            <a:picLocks noChangeAspect="1" noChangeArrowheads="1"/>
          </p:cNvPicPr>
          <p:nvPr/>
        </p:nvPicPr>
        <p:blipFill>
          <a:blip r:embed="rId5"/>
          <a:srcRect/>
          <a:stretch>
            <a:fillRect/>
          </a:stretch>
        </p:blipFill>
        <p:spPr bwMode="auto">
          <a:xfrm>
            <a:off x="4378325" y="3733800"/>
            <a:ext cx="1565275" cy="485775"/>
          </a:xfrm>
          <a:prstGeom prst="rect">
            <a:avLst/>
          </a:prstGeom>
          <a:noFill/>
        </p:spPr>
      </p:pic>
      <p:sp>
        <p:nvSpPr>
          <p:cNvPr id="45059" name="Rectangle 3"/>
          <p:cNvSpPr>
            <a:spLocks noChangeArrowheads="1"/>
          </p:cNvSpPr>
          <p:nvPr/>
        </p:nvSpPr>
        <p:spPr bwMode="auto">
          <a:xfrm>
            <a:off x="0" y="714375"/>
            <a:ext cx="274434" cy="307777"/>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400" b="0"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  </a:t>
            </a: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7" name="Rectangle 6"/>
          <p:cNvSpPr/>
          <p:nvPr/>
        </p:nvSpPr>
        <p:spPr>
          <a:xfrm>
            <a:off x="5943600" y="3733800"/>
            <a:ext cx="2879314" cy="461665"/>
          </a:xfrm>
          <a:prstGeom prst="rect">
            <a:avLst/>
          </a:prstGeom>
        </p:spPr>
        <p:txBody>
          <a:bodyPr wrap="none">
            <a:spAutoFit/>
          </a:bodyPr>
          <a:lstStyle/>
          <a:p>
            <a:pPr lvl="0" fontAlgn="base">
              <a:spcBef>
                <a:spcPct val="0"/>
              </a:spcBef>
              <a:spcAft>
                <a:spcPct val="0"/>
              </a:spcAft>
            </a:pPr>
            <a:r>
              <a:rPr lang="en-US" sz="2400" dirty="0" smtClean="0">
                <a:latin typeface="Times New Roman" pitchFamily="18" charset="0"/>
                <a:ea typeface="Times New Roman" pitchFamily="18" charset="0"/>
                <a:cs typeface="Times New Roman" pitchFamily="18" charset="0"/>
              </a:rPr>
              <a:t>is called linear media.</a:t>
            </a:r>
            <a:endParaRPr lang="en-US" sz="2400" dirty="0" smtClean="0">
              <a:latin typeface="Arial" pitchFamily="34" charset="0"/>
              <a:cs typeface="Arial" pitchFamily="34" charset="0"/>
            </a:endParaRPr>
          </a:p>
        </p:txBody>
      </p:sp>
      <p:pic>
        <p:nvPicPr>
          <p:cNvPr id="8" name="Picture 7"/>
          <p:cNvPicPr/>
          <p:nvPr/>
        </p:nvPicPr>
        <p:blipFill>
          <a:blip r:embed="rId6"/>
          <a:srcRect/>
          <a:stretch>
            <a:fillRect/>
          </a:stretch>
        </p:blipFill>
        <p:spPr bwMode="auto">
          <a:xfrm>
            <a:off x="762000" y="4419600"/>
            <a:ext cx="7924800" cy="2285999"/>
          </a:xfrm>
          <a:prstGeom prst="rect">
            <a:avLst/>
          </a:prstGeom>
          <a:noFill/>
          <a:ln w="9525">
            <a:noFill/>
            <a:miter lim="800000"/>
            <a:headEnd/>
            <a:tailEnd/>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46081" name="Picture 105"/>
          <p:cNvPicPr>
            <a:picLocks noChangeAspect="1" noChangeArrowheads="1"/>
          </p:cNvPicPr>
          <p:nvPr/>
        </p:nvPicPr>
        <p:blipFill>
          <a:blip r:embed="rId2"/>
          <a:srcRect/>
          <a:stretch>
            <a:fillRect/>
          </a:stretch>
        </p:blipFill>
        <p:spPr bwMode="auto">
          <a:xfrm>
            <a:off x="341026" y="457200"/>
            <a:ext cx="8574374" cy="838200"/>
          </a:xfrm>
          <a:prstGeom prst="rect">
            <a:avLst/>
          </a:prstGeom>
          <a:noFill/>
        </p:spPr>
      </p:pic>
      <p:sp>
        <p:nvSpPr>
          <p:cNvPr id="46083" name="Rectangle 3"/>
          <p:cNvSpPr>
            <a:spLocks noChangeArrowheads="1"/>
          </p:cNvSpPr>
          <p:nvPr/>
        </p:nvSpPr>
        <p:spPr bwMode="auto">
          <a:xfrm>
            <a:off x="0" y="10382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124</TotalTime>
  <Words>752</Words>
  <Application>Microsoft Office PowerPoint</Application>
  <PresentationFormat>On-screen Show (4:3)</PresentationFormat>
  <Paragraphs>59</Paragraphs>
  <Slides>30</Slides>
  <Notes>3</Notes>
  <HiddenSlides>0</HiddenSlides>
  <MMClips>0</MMClips>
  <ScaleCrop>false</ScaleCrop>
  <HeadingPairs>
    <vt:vector size="4" baseType="variant">
      <vt:variant>
        <vt:lpstr>Theme</vt:lpstr>
      </vt:variant>
      <vt:variant>
        <vt:i4>1</vt:i4>
      </vt:variant>
      <vt:variant>
        <vt:lpstr>Slide Titles</vt:lpstr>
      </vt:variant>
      <vt:variant>
        <vt:i4>30</vt:i4>
      </vt:variant>
    </vt:vector>
  </HeadingPairs>
  <TitlesOfParts>
    <vt:vector size="31"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RGIIT</dc:creator>
  <cp:lastModifiedBy>RGIIT</cp:lastModifiedBy>
  <cp:revision>37</cp:revision>
  <dcterms:created xsi:type="dcterms:W3CDTF">2006-08-16T00:00:00Z</dcterms:created>
  <dcterms:modified xsi:type="dcterms:W3CDTF">2014-09-01T04:20:39Z</dcterms:modified>
</cp:coreProperties>
</file>